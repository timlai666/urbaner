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各位老師好。本企劃以 11,523 則美日 Amazon 真實評論為基礎，主軸是 URBANER 不打低價，而以中高階定位把美日各自最在意的規格做足。以下依四個研究問題說明。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資料為 11,523 則評論。要強調：追蹤 84 個 SKU 中，經品牌關鍵字驗證自家只有 7 個、競品 77 個。評分分兩軸——Axis A 顯著度 0 到 7，看屬性在評論被強調的程度，用於分群；Axis B 品質 0 到 10，看商品口碑，用於定位與 Conjoint。評論探勘與評分是方法學、不是統計模型；統計模型有四個，全程 Python 執行並核對。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這張流程圖把整個研究攤開：INPUT 是行銷問題、四個統計模型、與資料來源——更正：自家 SKU 只有 7 個、競品 77 個，合計 84 個，不是 88 個。PROCESS 是評論探勘與評分、聯合分析、模型驗證。OUTPUT 是行銷劇本、戰略儀表板與產品優化建議，定價帶更正為 US$79（60–120）。一句話：輸入資料、經統計方法處理、產出可執行建議。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分析是一條邏輯線：把行銷問題轉成四個可檢定的研究問題。RQ1 分群用 K-Means、RQ2 鎖定用 ANOVA、RQ3 定位與市佔用 PCA 與 MNL、RQ4 產品定價用 Conjoint，每頁都標明對應哪一個。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市佔用 MNL 模型算：先由 Conjoint 估屬性權重、加總成總效用 U，再以 exp(U) 除以所有商品 exp(U) 的和得到被選機率，同陣營加總即市佔。美國僅 5.21%、日本 11.26%；加上離理想遠、大眾滿意度低、美日決策軸不同，構成四大問題。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RQ1。K-Means 把屬性偏好相近的顧客自動歸群，先標準化、PCA 降維再分群；分群品質用 Silhouette，0 到 1 越高越好，日本 0.570 邊界清楚。結論是兩市場最大群人多但滿意度低、要先修補，高滿意小眾才是利潤池。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RQ2。用 ANOVA 找最能區分客群的屬性。F 值是組間差異除以組內差異，越大越能區分客群，不是評論數。美國是送禮與多功能、日本是附件與精度。鎖定目標的依據是旗艦類別 Beard 與各群類別組成比對；ANOVA 是大環境，但旗艦落在這些客群，故可轉成品牌建議。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RQ3。定位用 PCA 把 114 維品質壓成二維，越右上越接近理想，再以理想點距離量化差距；方法是 PCA 加理想點距離，不是 MDS 或因素分析。導出定位：美國送禮多功能中高階、日本高精度工藝。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RQ4。屬性重要性用 Split-Model 羅吉斯迴歸：每個屬性單獨跑一條迴歸、算品質做滿帶來的偏好變化，再除以總和化成百分比。美國功能合一數一項就占 51.5%、超過一半；日本前六項都過 10%。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把屬性組成最佳產品：24 張卡片各算總效用、用 sigmoid 轉成預估購買率，這是相對吸引力非真實成交率。美國最佳 83.3%、日本 89.1%，共同骨幹是 38 段、10 件套組與 USB-C。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WTP 算法是屬性權重除以價格係數。美國光把機身、附件、多功能做好願付溢價就超過 79 美元，故 Hero 款定價 79 美元；日本價格係數為正、違反假設，WTP 只當方向，改對標 Panasonic。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升級先投哪裡？用 MNL 模擬：把某屬性設為滿分、重算市佔，增量即邊際回報。日本把段數做到 38 段，市佔潛力從 1.6% 跳到 94.8%、加 93 個百分點，回報最高；美國需套組、多功能、USB-C 一起升。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行銷對應前面統計：美國對應送禮與多功能、日本對應附件與精度。通路上美國靠 Reddit 與評測站、日本靠マイベスト與価格.com；資源集中於父親節、黑五、お歳暮三大檔期。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執行分三階段 12 個月：先改善、再升級、後衝刺，依供應鏈前置與 Q4 旺季排程。財務為示意：定價 79、毛利 35%、單機約 27.7 美元；市佔每升一階營收等比放大，金額待昆豪成本校準。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風險用發生機率乘衝擊嚴重度評分，右上紅區優先。兩大高風險是美國套組落後與日本 Panasonic 主導，對策已寫進產品與行銷章節。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結論一句話：不打低價，把美日各自最在意的規格做足、以中高階承接溢價。美國拼送禮套組、日本拼精度單點突破，共同踩上 IPX7 加 7 件門檻。謝謝。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URBANER 跨境電商成長企劃書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9FD8D2"/>
                </a:solidFill>
                <a:latin typeface="Microsoft JhengHei"/>
                <a:ea typeface="Microsoft JhengHei"/>
                <a:cs typeface="Microsoft JhengHei"/>
              </a:rPr>
              <a:t>美國 × 日本 Amazon 電動毛髮修剪器市場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以 11,523 則真實顧客評論為基礎之顧客、競爭、產品方案與財務規劃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合作企業：昆豪企業股份有限公司（URBANER 奧本）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提案團隊：賴廷榛、林易辰　｜　資料截止：2026-05-05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2600" b="1">
                <a:solidFill>
                  <a:srgbClr val="E3B34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 ｜  研究流程圖（MMR）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FB4F0"/>
                </a:solidFill>
                <a:latin typeface="Microsoft JhengHei"/>
                <a:ea typeface="Microsoft JhengHei"/>
                <a:cs typeface="Microsoft JhengHei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8412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8412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3B34A"/>
                </a:solidFill>
                <a:latin typeface="Microsoft JhengHei"/>
                <a:ea typeface="Microsoft JhengHei"/>
                <a:cs typeface="Microsoft JhengHei"/>
              </a:rPr>
              <a:t>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3456432" cy="5440680"/>
          </a:xfrm>
          <a:prstGeom prst="roundRect">
            <a:avLst/>
          </a:prstGeom>
          <a:noFill/>
          <a:ln w="19050">
            <a:solidFill>
              <a:srgbClr val="E04F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35024"/>
            <a:ext cx="3182112" cy="1463040"/>
          </a:xfrm>
          <a:prstGeom prst="roundRect">
            <a:avLst/>
          </a:prstGeom>
          <a:solidFill>
            <a:srgbClr val="2A3340"/>
          </a:solidFill>
          <a:ln w="9525">
            <a:solidFill>
              <a:srgbClr val="4655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9FC2F0"/>
                </a:solidFill>
                <a:latin typeface="Microsoft JhengHei"/>
                <a:ea typeface="Microsoft JhengHei"/>
                <a:cs typeface="Microsoft JhengHei"/>
              </a:rPr>
              <a:t>行銷問題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美日雙市場區隔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鎖定目標客群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競爭定位分析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消費者偏好分析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00400"/>
            <a:ext cx="3182112" cy="1463040"/>
          </a:xfrm>
          <a:prstGeom prst="roundRect">
            <a:avLst/>
          </a:prstGeom>
          <a:solidFill>
            <a:srgbClr val="2A3340"/>
          </a:solidFill>
          <a:ln w="9525">
            <a:solidFill>
              <a:srgbClr val="4655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9FC2F0"/>
                </a:solidFill>
                <a:latin typeface="Microsoft JhengHei"/>
                <a:ea typeface="Microsoft JhengHei"/>
                <a:cs typeface="Microsoft JhengHei"/>
              </a:rPr>
              <a:t>統計模型（4 項）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K-Means 分群／ANOVA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Split-Model Logistic Conjoint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MNL 多項羅吉特／PCA 定位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074920"/>
            <a:ext cx="3182112" cy="1463040"/>
          </a:xfrm>
          <a:prstGeom prst="roundRect">
            <a:avLst/>
          </a:prstGeom>
          <a:solidFill>
            <a:srgbClr val="2A3340"/>
          </a:solidFill>
          <a:ln w="9525">
            <a:solidFill>
              <a:srgbClr val="4655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9FC2F0"/>
                </a:solidFill>
                <a:latin typeface="Microsoft JhengHei"/>
                <a:ea typeface="Microsoft JhengHei"/>
                <a:cs typeface="Microsoft JhengHei"/>
              </a:rPr>
              <a:t>資料來源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Amazon US/JP 評論 11,523 則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84 SKU（7 自家＋77 競品）×114 屬性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9 類別競品＋社群洞察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35024"/>
            <a:ext cx="3182112" cy="1463040"/>
          </a:xfrm>
          <a:prstGeom prst="roundRect">
            <a:avLst/>
          </a:prstGeom>
          <a:solidFill>
            <a:srgbClr val="2A3340"/>
          </a:solidFill>
          <a:ln w="9525">
            <a:solidFill>
              <a:srgbClr val="4655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9FC2F0"/>
                </a:solidFill>
                <a:latin typeface="Microsoft JhengHei"/>
                <a:ea typeface="Microsoft JhengHei"/>
                <a:cs typeface="Microsoft JhengHei"/>
              </a:rPr>
              <a:t>資料處理與評分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評論探勘 Review Mining（方法學）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Axis A 顯著度 0–7／Axis B 品質 0–10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200400"/>
            <a:ext cx="3182112" cy="1463040"/>
          </a:xfrm>
          <a:prstGeom prst="roundRect">
            <a:avLst/>
          </a:prstGeom>
          <a:solidFill>
            <a:srgbClr val="2A3340"/>
          </a:solidFill>
          <a:ln w="9525">
            <a:solidFill>
              <a:srgbClr val="4655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9FC2F0"/>
                </a:solidFill>
                <a:latin typeface="Microsoft JhengHei"/>
                <a:ea typeface="Microsoft JhengHei"/>
                <a:cs typeface="Microsoft JhengHei"/>
              </a:rPr>
              <a:t>聯合分析方法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WTP 願付溢價分析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最適產品組合模擬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市場份額預測（MNL Share-of-Pref）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屬性重要性（Split-Logit）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5074920"/>
            <a:ext cx="3182112" cy="1463040"/>
          </a:xfrm>
          <a:prstGeom prst="roundRect">
            <a:avLst/>
          </a:prstGeom>
          <a:solidFill>
            <a:srgbClr val="2A3340"/>
          </a:solidFill>
          <a:ln w="9525">
            <a:solidFill>
              <a:srgbClr val="4655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9FC2F0"/>
                </a:solidFill>
                <a:latin typeface="Microsoft JhengHei"/>
                <a:ea typeface="Microsoft JhengHei"/>
                <a:cs typeface="Microsoft JhengHei"/>
              </a:rPr>
              <a:t>模型驗證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Silhouette 分群品質 US.358／JP.570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ANOVA F 值顯著（p&lt;0.001）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Conjoint 效度／MNL 市佔校準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335024"/>
            <a:ext cx="3456432" cy="1463040"/>
          </a:xfrm>
          <a:prstGeom prst="roundRect">
            <a:avLst/>
          </a:prstGeom>
          <a:solidFill>
            <a:srgbClr val="2A3340"/>
          </a:solidFill>
          <a:ln w="9525">
            <a:solidFill>
              <a:srgbClr val="4655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9FC2F0"/>
                </a:solidFill>
                <a:latin typeface="Microsoft JhengHei"/>
                <a:ea typeface="Microsoft JhengHei"/>
                <a:cs typeface="Microsoft JhengHei"/>
              </a:rPr>
              <a:t>行銷劇本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US：Gift-ready × 多功能套組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JP：精度·耐久·規格數值化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12 個月行銷檔期規劃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3200400"/>
            <a:ext cx="3456432" cy="1463040"/>
          </a:xfrm>
          <a:prstGeom prst="roundRect">
            <a:avLst/>
          </a:prstGeom>
          <a:solidFill>
            <a:srgbClr val="2A3340"/>
          </a:solidFill>
          <a:ln w="9525">
            <a:solidFill>
              <a:srgbClr val="4655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9FC2F0"/>
                </a:solidFill>
                <a:latin typeface="Microsoft JhengHei"/>
                <a:ea typeface="Microsoft JhengHei"/>
                <a:cs typeface="Microsoft JhengHei"/>
              </a:rPr>
              <a:t>雙市場戰略儀表板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STP 族群分析視覺化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Conjoint 偏好互動圖表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競品市場份額對比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5074920"/>
            <a:ext cx="3456432" cy="1463040"/>
          </a:xfrm>
          <a:prstGeom prst="roundRect">
            <a:avLst/>
          </a:prstGeom>
          <a:solidFill>
            <a:srgbClr val="2A3340"/>
          </a:solidFill>
          <a:ln w="9525">
            <a:solidFill>
              <a:srgbClr val="4655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9FC2F0"/>
                </a:solidFill>
                <a:latin typeface="Microsoft JhengHei"/>
                <a:ea typeface="Microsoft JhengHei"/>
                <a:cs typeface="Microsoft JhengHei"/>
              </a:rPr>
              <a:t>產品優化與定價建議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Hero SKU 差異化配置方向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新 SKU 規格共識（IPX7＋／≥7 件）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har char="▪"/>
            </a:pPr>
            <a:r>
              <a:rPr sz="950" b="0">
                <a:solidFill>
                  <a:srgbClr val="DDE4EC"/>
                </a:solidFill>
                <a:latin typeface="Microsoft JhengHei"/>
                <a:ea typeface="Microsoft JhengHei"/>
                <a:cs typeface="Microsoft JhengHei"/>
              </a:rPr>
              <a:t>定價帶建議 US$79（$60–120）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803904" y="1874519"/>
            <a:ext cx="457200" cy="566928"/>
          </a:xfrm>
          <a:prstGeom prst="rightArrow">
            <a:avLst/>
          </a:prstGeom>
          <a:solidFill>
            <a:srgbClr val="9AA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626096" y="1874519"/>
            <a:ext cx="457200" cy="566928"/>
          </a:xfrm>
          <a:prstGeom prst="rightArrow">
            <a:avLst/>
          </a:prstGeom>
          <a:solidFill>
            <a:srgbClr val="9AA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5815584" y="2834640"/>
            <a:ext cx="292608" cy="365760"/>
          </a:xfrm>
          <a:prstGeom prst="downArrow">
            <a:avLst/>
          </a:prstGeom>
          <a:solidFill>
            <a:srgbClr val="9AA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852928"/>
            <a:ext cx="237744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建立模型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815584" y="4700016"/>
            <a:ext cx="292608" cy="365760"/>
          </a:xfrm>
          <a:prstGeom prst="downArrow">
            <a:avLst/>
          </a:prstGeom>
          <a:solidFill>
            <a:srgbClr val="9AA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2" y="4718303"/>
            <a:ext cx="237744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模型驗證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9784080" y="2834640"/>
            <a:ext cx="292608" cy="365760"/>
          </a:xfrm>
          <a:prstGeom prst="downArrow">
            <a:avLst/>
          </a:prstGeom>
          <a:solidFill>
            <a:srgbClr val="9AA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8128" y="2852928"/>
            <a:ext cx="237744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11 項即戰行銷動作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784080" y="4700016"/>
            <a:ext cx="292608" cy="365760"/>
          </a:xfrm>
          <a:prstGeom prst="downArrow">
            <a:avLst/>
          </a:prstGeom>
          <a:solidFill>
            <a:srgbClr val="9AA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68128" y="4718303"/>
            <a:ext cx="237744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視覺化分析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645920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資料與範疇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50976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研究範疇與資料來源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0604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11,523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957"/>
                </a:solidFill>
                <a:latin typeface="Microsoft JhengHei"/>
                <a:ea typeface="Microsoft JhengHei"/>
                <a:cs typeface="Microsoft JhengHei"/>
              </a:rPr>
              <a:t>則評論（US 4,360／JP 7,163）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60604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84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957"/>
                </a:solidFill>
                <a:latin typeface="Microsoft JhengHei"/>
                <a:ea typeface="Microsoft JhengHei"/>
                <a:cs typeface="Microsoft JhengHei"/>
              </a:rPr>
              <a:t>追蹤 SKU = 7 自家 + 77 競品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828800"/>
            <a:ext cx="260604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52 / 36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957"/>
                </a:solidFill>
                <a:latin typeface="Microsoft JhengHei"/>
                <a:ea typeface="Microsoft JhengHei"/>
                <a:cs typeface="Microsoft JhengHei"/>
              </a:rPr>
              <a:t>Conjoint 卡片（US / JP 真實 SKU）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828800"/>
            <a:ext cx="260604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114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957"/>
                </a:solidFill>
                <a:latin typeface="Microsoft JhengHei"/>
                <a:ea typeface="Microsoft JhengHei"/>
                <a:cs typeface="Microsoft JhengHei"/>
              </a:rPr>
              <a:t>產品屬性 × 雙軸評分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10642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雙軸評分定義：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Axis A 顯著度（0–7）— 某屬性在單則評論被強調的程度，0＝完全沒提到、7＝該評論核心主題；用於顧客分群。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Axis B 品質（0–10）— 某商品在某屬性的市場口碑，0＝極差、10＝極佳；用於競爭定位與 Conjoint。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另含 9 類別競品銷售資料與 20+ 平台社群洞察，支援競品盤點與社群行銷規劃。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64240" cy="82296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統計方法  </a:t>
            </a:r>
            <a:r>
              <a:rPr sz="1150" b="0">
                <a:solidFill>
                  <a:srgbClr val="0B4A44"/>
                </a:solidFill>
                <a:latin typeface="Microsoft JhengHei"/>
                <a:ea typeface="Microsoft JhengHei"/>
                <a:cs typeface="Microsoft JhengHei"/>
              </a:rPr>
              <a:t>「評論探勘（Review Mining）」與雙軸評分是『資料處理方法學』，不是統計模型；真正的統計模型有四個：K-Means、ANOVA、Split-Model 羅吉斯迴歸、MNL。全程以 Python 執行並逐行核對。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645920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研究架構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50976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行銷問題 → 四個研究問題 → 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743200"/>
                <a:gridCol w="3474720"/>
                <a:gridCol w="1463040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行銷問題</a:t>
                      </a:r>
                    </a:p>
                  </a:txBody>
                  <a:tcPr>
                    <a:solidFill>
                      <a:srgbClr val="14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研究問題 RQ</a:t>
                      </a:r>
                    </a:p>
                  </a:txBody>
                  <a:tcPr>
                    <a:solidFill>
                      <a:srgbClr val="14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統計方法</a:t>
                      </a:r>
                    </a:p>
                  </a:txBody>
                  <a:tcPr>
                    <a:solidFill>
                      <a:srgbClr val="14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章節</a:t>
                      </a:r>
                    </a:p>
                  </a:txBody>
                  <a:tcPr>
                    <a:solidFill>
                      <a:srgbClr val="142B4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1F2A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顧客組成與類型為何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1">
                          <a:solidFill>
                            <a:srgbClr val="0F766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RQ1 顧客分群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1F2A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K-Means 分群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1F2A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1F2A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應主攻何客群、關鍵屬性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1">
                          <a:solidFill>
                            <a:srgbClr val="0F766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RQ2 目標與關鍵屬性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1F2A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ANOVA 變異數分析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1F2A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1F2A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競爭定位與市佔率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1">
                          <a:solidFill>
                            <a:srgbClr val="0F766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RQ3 競爭定位與市佔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1F2A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PCA 定位圖 ＋ MNL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1F2A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1F2A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產品、定價與行銷方案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1">
                          <a:solidFill>
                            <a:srgbClr val="0F766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RQ4 產品／定價／行銷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1F2A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Conjoint＋WTP＋MNL 模擬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1F2A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6–7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892040"/>
            <a:ext cx="11064240" cy="96012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統計方法  </a:t>
            </a:r>
            <a:r>
              <a:rPr sz="1150" b="0">
                <a:solidFill>
                  <a:srgbClr val="0B4A44"/>
                </a:solidFill>
                <a:latin typeface="Microsoft JhengHei"/>
                <a:ea typeface="Microsoft JhengHei"/>
                <a:cs typeface="Microsoft JhengHei"/>
              </a:rPr>
              <a:t>報告的每一章都明確對應一個研究問題，確保『行銷問題 → 研究問題 → 統計方法 → 結論』前後一致；這也是把企業的行銷問題，正式轉成可被檢定的研究問題。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645920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RQ3｜問題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50976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問題定義：市佔偏低與決策軸分歧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6" name="Picture 5" descr="donut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3108960" cy="3707476"/>
          </a:xfrm>
          <a:prstGeom prst="rect">
            <a:avLst/>
          </a:prstGeom>
        </p:spPr>
      </p:pic>
      <p:pic>
        <p:nvPicPr>
          <p:cNvPr id="7" name="Picture 6" descr="donut_j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737360"/>
            <a:ext cx="3108960" cy="37074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828800"/>
            <a:ext cx="4937760" cy="2834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四個關鍵問題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① 美國市佔僅 5.21%、日本 11.26% — 競爭中能見度不足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② 自家旗艦離『理想規格』仍遠（US 2.49 vs 頂尖1.60）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③ 最大客群滿意度偏低（US ★3.18／JP ★3.46）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④ 美日決策軸不同，不能用單一策略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11247120" cy="91440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統計方法  </a:t>
            </a:r>
            <a:r>
              <a:rPr sz="1150" b="0">
                <a:solidFill>
                  <a:srgbClr val="0B4A44"/>
                </a:solidFill>
                <a:latin typeface="Microsoft JhengHei"/>
                <a:ea typeface="Microsoft JhengHei"/>
                <a:cs typeface="Microsoft JhengHei"/>
              </a:rPr>
              <a:t>MNL 多項羅吉特：先由 Conjoint 估各屬性偏好權重→算每個商品總效用 U→以 P(i)=exp(Uᵢ)/Σexp(Uⱼ) 轉成被選機率→同陣營機率加總＝市佔。故 5.21% ＝『貨架上每 100 次選擇約 5 次選到 URBANER』。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645920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RQ1｜區隔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50976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目標客群：市場區隔（K-Means）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pic>
        <p:nvPicPr>
          <p:cNvPr id="6" name="Picture 5" descr="seg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4160520" cy="2356826"/>
          </a:xfrm>
          <a:prstGeom prst="rect">
            <a:avLst/>
          </a:prstGeom>
        </p:spPr>
      </p:pic>
      <p:pic>
        <p:nvPicPr>
          <p:cNvPr id="7" name="Picture 6" descr="seg_j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783080"/>
            <a:ext cx="4160520" cy="2327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52560" y="1828800"/>
            <a:ext cx="292608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美日各 3 群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0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大眾群：人多但滿意度低（痛點群）→ 先修補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0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高滿意小眾：US S3 ★4.48／JP S2 ★4.01 → 利潤池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200" b="0">
                <a:solidFill>
                  <a:srgbClr val="3A4957"/>
                </a:solidFill>
                <a:latin typeface="Microsoft JhengHei"/>
                <a:ea typeface="Microsoft JhengHei"/>
                <a:cs typeface="Microsoft JhengHei"/>
              </a:rPr>
              <a:t>分群品質 Silhouette：US 0.358／JP 0.570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37760"/>
            <a:ext cx="11247120" cy="96012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統計方法  </a:t>
            </a:r>
            <a:r>
              <a:rPr sz="1150" b="0">
                <a:solidFill>
                  <a:srgbClr val="0B4A44"/>
                </a:solidFill>
                <a:latin typeface="Microsoft JhengHei"/>
                <a:ea typeface="Microsoft JhengHei"/>
                <a:cs typeface="Microsoft JhengHei"/>
              </a:rPr>
              <a:t>K-Means 把『屬性偏好相近』的顧客自動歸成同群（先標準化＋PCA 降維再分群）。Silhouette 輪廓係數（0~1）衡量分群乾淨度，越接近 1 越好；日本 0.570 代表分群邊界清晰。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645920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RQ2｜鎖定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50976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目標選擇：ANOVA 找關鍵屬性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486400" cy="3017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美國最具區隔力屬性（F 值）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送禮場景  F=1299.5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多功能套組  F=1193.3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附件件數  F=1014.9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日本最具區隔力屬性（F 值）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附件件數  F=2630.4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梳齒款式  F=2412.2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可調梳齒  F=1827.0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486400" cy="3017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目標客群判定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US：父親節送禮客(S1) ＋ USB-C 高端鐵粉(S3)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JP：鬍鬚講究客(S2)，並守住 CP 值大眾基本盤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200" b="0">
                <a:solidFill>
                  <a:srgbClr val="3A4957"/>
                </a:solidFill>
                <a:latin typeface="Microsoft JhengHei"/>
                <a:ea typeface="Microsoft JhengHei"/>
                <a:cs typeface="Microsoft JhengHei"/>
              </a:rPr>
              <a:t>判定依據：旗艦類別(Beard) × 各區隔類別組成 — Beard 占比高且高滿意者即為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983480"/>
            <a:ext cx="11247120" cy="91440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統計方法  </a:t>
            </a:r>
            <a:r>
              <a:rPr sz="1150" b="0">
                <a:solidFill>
                  <a:srgbClr val="0B4A44"/>
                </a:solidFill>
                <a:latin typeface="Microsoft JhengHei"/>
                <a:ea typeface="Microsoft JhengHei"/>
                <a:cs typeface="Microsoft JhengHei"/>
              </a:rPr>
              <a:t>ANOVA 的 F 值＝組間差異 ÷ 組內差異，衡量某屬性在不同客群間差異多大；F 越大越能區分客群（非評論則數）。此為全市場環境分析，因 URBANER 旗艦落在 Beard 客群，故可轉化為品牌建議。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645920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RQ3｜定位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50976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競爭分析：知覺定位圖（PCA）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6" name="Picture 5" descr="perceptua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4114800" cy="2992582"/>
          </a:xfrm>
          <a:prstGeom prst="rect">
            <a:avLst/>
          </a:prstGeom>
        </p:spPr>
      </p:pic>
      <p:pic>
        <p:nvPicPr>
          <p:cNvPr id="7" name="Picture 6" descr="perceptual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83080"/>
            <a:ext cx="4114800" cy="29925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0" y="1828800"/>
            <a:ext cx="306324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定位主張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0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US：送禮即用 × 多功能套組的中高階品牌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0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JP：高精度 × 高耐久 × 規格透明的工藝品牌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150" b="0">
                <a:solidFill>
                  <a:srgbClr val="3A4957"/>
                </a:solidFill>
                <a:latin typeface="Microsoft JhengHei"/>
                <a:ea typeface="Microsoft JhengHei"/>
                <a:cs typeface="Microsoft JhengHei"/>
              </a:rPr>
              <a:t>離理想距離：US 2.49 vs 1.60；JP 3.43 vs 1.97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1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主要對手：Panasonic（跨 9 類）、Braun、Manscaped；追趕對象 Ufree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83480"/>
            <a:ext cx="11247120" cy="91440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統計方法  </a:t>
            </a:r>
            <a:r>
              <a:rPr sz="1150" b="0">
                <a:solidFill>
                  <a:srgbClr val="0B4A44"/>
                </a:solidFill>
                <a:latin typeface="Microsoft JhengHei"/>
                <a:ea typeface="Microsoft JhengHei"/>
                <a:cs typeface="Microsoft JhengHei"/>
              </a:rPr>
              <a:t>PCA 主成分分析把 114 維品質壓成二維（橫軸≈整體品質強度），越靠右上越接近理想；搭配理想點距離 d=√(mean((品質−10)²)) 量化差距。定位方法為 PCA＋理想點距離，非 MDS、非因素分析。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645920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RQ4｜偏好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50976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屬性重要性：Conjoint Split-Model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pic>
        <p:nvPicPr>
          <p:cNvPr id="6" name="Picture 5" descr="imp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4526280" cy="2469671"/>
          </a:xfrm>
          <a:prstGeom prst="rect">
            <a:avLst/>
          </a:prstGeom>
        </p:spPr>
      </p:pic>
      <p:pic>
        <p:nvPicPr>
          <p:cNvPr id="7" name="Picture 6" descr="imp_j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783080"/>
            <a:ext cx="4526280" cy="25555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0" y="1828800"/>
            <a:ext cx="2468880" cy="2834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關鍵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US：功能合一數 51.5% 一項定生死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200" b="0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JP：前 6 項都 &gt;10%，規格全面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83480"/>
            <a:ext cx="11247120" cy="96012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統計方法  </a:t>
            </a:r>
            <a:r>
              <a:rPr sz="1150" b="0">
                <a:solidFill>
                  <a:srgbClr val="0B4A44"/>
                </a:solidFill>
                <a:latin typeface="Microsoft JhengHei"/>
                <a:ea typeface="Microsoft JhengHei"/>
                <a:cs typeface="Microsoft JhengHei"/>
              </a:rPr>
              <a:t>Split-Model 羅吉斯迴歸：每個屬性單獨跑一條迴歸，算它從最低做到最高帶來的偏好變化（part-worth 全距），再除以所有屬性全距總和→百分比。故『51.5%』＝功能合一數佔全部影響力的一半以上；全部加總＝100%。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645920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RQ4｜產品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50976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最佳產品組合（效用 → 購買率）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pic>
        <p:nvPicPr>
          <p:cNvPr id="6" name="Picture 5" descr="best_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4754880" cy="31871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0" y="1828800"/>
            <a:ext cx="6035040" cy="2834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US 最佳：USB-C × 38 段多附件款　P=83.3%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Char char="▪"/>
            </a:pPr>
            <a:r>
              <a:rPr sz="11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≥38段 · USB-C · ≥10件 · 快充 · IPX4 · 1合1專精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JP 最佳：IPX7 × 90 分高續航全配款　P=89.1%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Char char="▪"/>
            </a:pPr>
            <a:r>
              <a:rPr sz="11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≥38段 · ≥10件 · USB-C · 90分續航 · IPX7+ · 1mm刻度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2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共同骨幹：≥38 段 × ≥10 件套組 × USB-C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1247120" cy="86868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統計方法  </a:t>
            </a:r>
            <a:r>
              <a:rPr sz="1150" b="0">
                <a:solidFill>
                  <a:srgbClr val="0B4A44"/>
                </a:solidFill>
                <a:latin typeface="Microsoft JhengHei"/>
                <a:ea typeface="Microsoft JhengHei"/>
                <a:cs typeface="Microsoft JhengHei"/>
              </a:rPr>
              <a:t>全因子設計 24 張產品卡，各卡總效用 U＝Σ屬性偏好分；經 Z-score 正規化後以 sigmoid 轉成 0~100% 的『預估購買率』。此為設計方案間的相對吸引力，非真實成交率。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645920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RQ4｜定價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50976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願付溢價（WTP）與定價建議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pic>
        <p:nvPicPr>
          <p:cNvPr id="6" name="Picture 5" descr="wtp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080"/>
            <a:ext cx="4434840" cy="2380947"/>
          </a:xfrm>
          <a:prstGeom prst="rect">
            <a:avLst/>
          </a:prstGeom>
        </p:spPr>
      </p:pic>
      <p:pic>
        <p:nvPicPr>
          <p:cNvPr id="7" name="Picture 6" descr="wtp_j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783080"/>
            <a:ext cx="4434840" cy="24632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64040" y="1828800"/>
            <a:ext cx="260604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定價建議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3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US Hero SKU 建議 US$79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高於 Conair、低於 Braun 的獲利甜蜜點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1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JP 對標 Panasonic 同級、附件更多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83480"/>
            <a:ext cx="11247120" cy="96012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統計方法  </a:t>
            </a:r>
            <a:r>
              <a:rPr sz="1150" b="0">
                <a:solidFill>
                  <a:srgbClr val="0B4A44"/>
                </a:solidFill>
                <a:latin typeface="Microsoft JhengHei"/>
                <a:ea typeface="Microsoft JhengHei"/>
                <a:cs typeface="Microsoft JhengHei"/>
              </a:rPr>
              <a:t>WTP＝β_屬性 ÷ |β_價格|，在模型加入真實售價估顧客價格敏感度後換算金額。深色＝p&lt;0.05 顯著。⚠ 日本 β_價格為正（高價＝高品質訊號），WTP 僅供方向參考、不可直接定價。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645920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RQ4｜投資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50976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規格升級的市佔回報模擬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pic>
        <p:nvPicPr>
          <p:cNvPr id="6" name="Picture 5" descr="rnd_j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852160" cy="32445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920240"/>
            <a:ext cx="502920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日本：單點突破最有效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長度段數 ≥38 段 → 市佔 1.6%→94.8%（+93.2pp）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0.5mm 刻度 → +84.6pp（互補升級）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美國無單一爆點 → 套組×多功能×USB-C 同步升級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1247120" cy="86868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統計方法  </a:t>
            </a:r>
            <a:r>
              <a:rPr sz="1150" b="0">
                <a:solidFill>
                  <a:srgbClr val="0B4A44"/>
                </a:solidFill>
                <a:latin typeface="Microsoft JhengHei"/>
                <a:ea typeface="Microsoft JhengHei"/>
                <a:cs typeface="Microsoft JhengHei"/>
              </a:rPr>
              <a:t>MNL 升級模擬：把 URBANER 某屬性品質設為滿分 10、其餘不變，重算偏好份額 P(URBANER)。增量＝該屬性升級的『邊際市佔回報』，作為 R&amp;D 投資優先序依據。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645920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50976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行銷策略與年度檔期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486400" cy="3108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美國：送禮 × 多功能套組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20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7-in-1 件數徽章、Gift-Ready 包裝、USB-C＋IPX7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日本：精度 × 耐久 × 數值化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20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規格數字即賣點、專門家監修、樂天直營正規品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150" b="0">
                <a:solidFill>
                  <a:srgbClr val="3A4957"/>
                </a:solidFill>
                <a:latin typeface="Microsoft JhengHei"/>
                <a:ea typeface="Microsoft JhengHei"/>
                <a:cs typeface="Microsoft JhengHei"/>
              </a:rPr>
              <a:t>通路（取自 20+ 平台社群洞察）：US 重 Reddit/評測站、JP 重マイベスト/価格.com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486400" cy="3108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三大必打檔期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6 月　父親節 / 父の日（美日並進）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11 月　Black Friday（美國全年最大）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12 月　お歳暮（日本禮品旺季）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957"/>
                </a:solidFill>
                <a:latin typeface="Microsoft JhengHei"/>
                <a:ea typeface="Microsoft JhengHei"/>
                <a:cs typeface="Microsoft JhengHei"/>
              </a:rPr>
              <a:t>檔期前約 6 週開始預熱（素材＋PPC 預算）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1247120" cy="82296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統計方法  </a:t>
            </a:r>
            <a:r>
              <a:rPr sz="1150" b="0">
                <a:solidFill>
                  <a:srgbClr val="0B4A44"/>
                </a:solidFill>
                <a:latin typeface="Microsoft JhengHei"/>
                <a:ea typeface="Microsoft JhengHei"/>
                <a:cs typeface="Microsoft JhengHei"/>
              </a:rPr>
              <a:t>行銷訴求直接對應前面統計：美國對應 ANOVA 的『送禮 × 多功能』、日本對應『附件 × 精度』，做到分析與行銷一條線。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645920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50976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執行時程與財務情境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94960" cy="3108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12 個月三階段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0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第 1–3 月 改善：痛點修補、Listing 重製、補徽章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0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第 4–8 月 升級：日本段數/精度、美國 7-in-1 套組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Char char="▪"/>
            </a:pPr>
            <a:r>
              <a:rPr sz="120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第 9–12 月 衝刺：黑五/お歳暮、樂天直營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100" b="0">
                <a:solidFill>
                  <a:srgbClr val="3A4957"/>
                </a:solidFill>
                <a:latin typeface="Microsoft JhengHei"/>
                <a:ea typeface="Microsoft JhengHei"/>
                <a:cs typeface="Microsoft JhengHei"/>
              </a:rPr>
              <a:t>切點依供應鏈前置(約3–5月)與 Q4 旺季對齊</a:t>
            </a:r>
          </a:p>
        </p:txBody>
      </p:sp>
      <p:pic>
        <p:nvPicPr>
          <p:cNvPr id="7" name="Picture 6" descr="rev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5577840" cy="34116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074920"/>
            <a:ext cx="11247120" cy="86868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統計方法  </a:t>
            </a:r>
            <a:r>
              <a:rPr sz="1150" b="0">
                <a:solidFill>
                  <a:srgbClr val="0B4A44"/>
                </a:solidFill>
                <a:latin typeface="Microsoft JhengHei"/>
                <a:ea typeface="Microsoft JhengHei"/>
                <a:cs typeface="Microsoft JhengHei"/>
              </a:rPr>
              <a:t>財務為示意情境：ASP $79 × 毛利 35% ≈ 單機 $27.7；市佔每升一階、營收等比放大。實際須代入昆豪 BOM 成本、Amazon 佣金/廣告、物流與匯率後重算。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645920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風險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50976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42B46"/>
                </a:solidFill>
                <a:latin typeface="Microsoft JhengHei"/>
                <a:ea typeface="Microsoft JhengHei"/>
                <a:cs typeface="Microsoft JhengHei"/>
              </a:rPr>
              <a:t>風險矩陣與對策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2CED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pic>
        <p:nvPicPr>
          <p:cNvPr id="6" name="Picture 5" descr="ris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3977639" cy="32892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828800"/>
            <a:ext cx="5852160" cy="3017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兩大高風險（紅區）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R1 美國套組形態落後 → 加速 7-in-1＋送禮檔期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Char char="▪"/>
            </a:pPr>
            <a:r>
              <a:rPr sz="1250" b="0">
                <a:solidFill>
                  <a:srgbClr val="1F2A37"/>
                </a:solidFill>
                <a:latin typeface="Microsoft JhengHei"/>
                <a:ea typeface="Microsoft JhengHei"/>
                <a:cs typeface="Microsoft JhengHei"/>
              </a:rPr>
              <a:t>R2 日本 Panasonic 主導 → 切 Nose/Ear 縫隙＋監修背書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200" b="0">
                <a:solidFill>
                  <a:srgbClr val="3A4957"/>
                </a:solidFill>
                <a:latin typeface="Microsoft JhengHei"/>
                <a:ea typeface="Microsoft JhengHei"/>
                <a:cs typeface="Microsoft JhengHei"/>
              </a:rPr>
              <a:t>中風險：樣本有限、單一旗艦依賴、匯率、品控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1247120" cy="86868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統計方法  </a:t>
            </a:r>
            <a:r>
              <a:rPr sz="1150" b="0">
                <a:solidFill>
                  <a:srgbClr val="0B4A44"/>
                </a:solidFill>
                <a:latin typeface="Microsoft JhengHei"/>
                <a:ea typeface="Microsoft JhengHei"/>
                <a:cs typeface="Microsoft JhengHei"/>
              </a:rPr>
              <a:t>風險矩陣＝發生機率 × 衝擊嚴重度兩維評分；兩者皆高（右上紅區）者優先處理。高風險對策已內建於第 6–7 章產品與行銷規劃。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607040" cy="3474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D9F96B"/>
                </a:solidFill>
                <a:latin typeface="Microsoft JhengHei"/>
                <a:ea typeface="Microsoft JhengHei"/>
                <a:cs typeface="Microsoft JhengHei"/>
              </a:rPr>
              <a:t>URBANER 的勝負手不在低價，而在把美日各自最在意的規格做足、以中高階定位承接溢價。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Char char="▪"/>
            </a:pP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美國：送禮 × 多功能套組，Hero SKU 定價 US$79。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Char char="▪"/>
            </a:pP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日本：38 段 × 0.5mm 精度單點突破，市佔潛力 +93pp。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Char char="▪"/>
            </a:pP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共同門檻：IPX7 ＋ ≥7 件套組，先改善、再升級、後衝刺。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