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011680"/>
            <a:ext cx="73152" cy="2743200"/>
          </a:xfrm>
          <a:prstGeom prst="rect">
            <a:avLst/>
          </a:prstGeom>
          <a:solidFill>
            <a:srgbClr val="C9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C99A3B"/>
                </a:solidFill>
                <a:latin typeface="Microsoft YaHei"/>
              </a:rPr>
              <a:t>URBANER 奧本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37744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Microsoft YaHei"/>
              </a:rPr>
              <a:t>商業模式圖 × SWOT 策略分析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5661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Microsoft YaHei"/>
              </a:rPr>
              <a:t>整體 × 美國市場 × 日本市場 — 競爭者基準分析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2062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C99A3B"/>
                </a:solidFill>
                <a:latin typeface="Microsoft YaHei"/>
              </a:rPr>
              <a:t>Business Model Canvas (with Epicenter) + SWOT with Strategy 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9436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E6E6E6"/>
                </a:solidFill>
                <a:latin typeface="Microsoft YaHei"/>
              </a:rPr>
              <a:t>Source: URBANER 雙市場 STP 完整報告 (n=11,523 reviews) + 競品評論 + 社群洞察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62636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E6E6E6"/>
                </a:solidFill>
                <a:latin typeface="Microsoft YaHei"/>
              </a:rPr>
              <a:t>FourSight Lab × URBANER 產學合作專案  |  資料截止 2026-05-05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目錄 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C99A3B"/>
                </a:solidFill>
                <a:latin typeface="Microsoft YaHei"/>
              </a:rPr>
              <a:t>本份報告共 5 個區塊、18 張投影片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"/>
            <a:ext cx="12191695" cy="45720"/>
          </a:xfrm>
          <a:prstGeom prst="rect">
            <a:avLst/>
          </a:prstGeom>
          <a:solidFill>
            <a:srgbClr val="C9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640080" cy="640080"/>
          </a:xfrm>
          <a:prstGeom prst="rect">
            <a:avLst/>
          </a:prstGeom>
          <a:solidFill>
            <a:srgbClr val="C9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4173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B2E4F"/>
                </a:solidFill>
                <a:latin typeface="Microsoft YaHei"/>
              </a:rPr>
              <a:t>競爭者基準與分析方法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73736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Microsoft YaHei"/>
              </a:rPr>
              <a:t>Benchmark scope, S/W 排除規則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148840"/>
            <a:ext cx="640080" cy="640080"/>
          </a:xfrm>
          <a:prstGeom prst="rect">
            <a:avLst/>
          </a:prstGeom>
          <a:solidFill>
            <a:srgbClr val="C9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14884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1945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B2E4F"/>
                </a:solidFill>
                <a:latin typeface="Microsoft YaHei"/>
              </a:rPr>
              <a:t>整體 — 商業模式圖 (含震央)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5146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Microsoft YaHei"/>
              </a:rPr>
              <a:t>Epicenter Selection × 9 elements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926080"/>
            <a:ext cx="640080" cy="640080"/>
          </a:xfrm>
          <a:prstGeom prst="rect">
            <a:avLst/>
          </a:prstGeom>
          <a:solidFill>
            <a:srgbClr val="C9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92608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29718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B2E4F"/>
                </a:solidFill>
                <a:latin typeface="Microsoft YaHei"/>
              </a:rPr>
              <a:t>整體 — SWOT × 策略定調卡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29184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Microsoft YaHei"/>
              </a:rPr>
              <a:t>vs Panasonic / Braun / Wahl / Manscaped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703320"/>
            <a:ext cx="640080" cy="640080"/>
          </a:xfrm>
          <a:prstGeom prst="rect">
            <a:avLst/>
          </a:prstGeom>
          <a:solidFill>
            <a:srgbClr val="C9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70332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374904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B2E4F"/>
                </a:solidFill>
                <a:latin typeface="Microsoft YaHei"/>
              </a:rPr>
              <a:t>美國市場 — BMC × SWOT × 策略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06908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Microsoft YaHei"/>
              </a:rPr>
              <a:t>Gift-Ready × Multi-Function Pro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4480560"/>
            <a:ext cx="640080" cy="640080"/>
          </a:xfrm>
          <a:prstGeom prst="rect">
            <a:avLst/>
          </a:prstGeom>
          <a:solidFill>
            <a:srgbClr val="C9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48056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5262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B2E4F"/>
                </a:solidFill>
                <a:latin typeface="Microsoft YaHei"/>
              </a:rPr>
              <a:t>日本市場 — BMC × SWOT × 策略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8463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Microsoft YaHei"/>
              </a:rPr>
              <a:t>精度・耐久・分貝数値化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5257800"/>
            <a:ext cx="640080" cy="640080"/>
          </a:xfrm>
          <a:prstGeom prst="rect">
            <a:avLst/>
          </a:prstGeom>
          <a:solidFill>
            <a:srgbClr val="C9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25780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5303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B2E4F"/>
                </a:solidFill>
                <a:latin typeface="Microsoft YaHei"/>
              </a:rPr>
              <a:t>結論與下一步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562356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Microsoft YaHei"/>
              </a:rPr>
              <a:t>三市場戰略地圖總覽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53796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4A4A4A"/>
                </a:solidFill>
                <a:latin typeface="Microsoft YaHei"/>
              </a:rPr>
              <a:t>URBANER × FourSight Lab  |  2/18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競爭者基準與 S/W 排除規則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C99A3B"/>
                </a:solidFill>
                <a:latin typeface="Microsoft YaHei"/>
              </a:rPr>
              <a:t>本報告的優勢/劣勢必須是『競爭者沒有』或『URBANER 顯著差異』的項目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"/>
            <a:ext cx="12191695" cy="45720"/>
          </a:xfrm>
          <a:prstGeom prst="rect">
            <a:avLst/>
          </a:prstGeom>
          <a:solidFill>
            <a:srgbClr val="C9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914400"/>
            <a:ext cx="5669280" cy="5303520"/>
          </a:xfrm>
          <a:prstGeom prst="rect">
            <a:avLst/>
          </a:prstGeom>
          <a:solidFill>
            <a:srgbClr val="F5F2EC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058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B2E4F"/>
                </a:solidFill>
                <a:latin typeface="Microsoft YaHei"/>
              </a:rPr>
              <a:t>競爭者陣容 (依市場)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5394960" cy="4754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>
            <a:spAutoFit/>
          </a:bodyPr>
          <a:lstStyle/>
          <a:p>
            <a:pPr algn="l"/>
            <a:r>
              <a:rPr sz="1200" b="1">
                <a:solidFill>
                  <a:srgbClr val="4A4A4A"/>
                </a:solidFill>
                <a:latin typeface="Microsoft YaHei"/>
              </a:rPr>
              <a:t>美國市場主要競爭者</a:t>
            </a:r>
          </a:p>
          <a:p>
            <a:pPr algn="l"/>
            <a:r>
              <a:rPr sz="950" b="0">
                <a:solidFill>
                  <a:srgbClr val="4A4A4A"/>
                </a:solidFill>
                <a:latin typeface="Microsoft YaHei"/>
              </a:rPr>
              <a:t>• Wahl / Andis — 老牌、理髮師取向，正被中國高速無刷馬達品牌侵蝕</a:t>
            </a:r>
          </a:p>
          <a:p>
            <a:pPr algn="l"/>
            <a:r>
              <a:rPr sz="950" b="0">
                <a:solidFill>
                  <a:srgbClr val="4A4A4A"/>
                </a:solidFill>
                <a:latin typeface="Microsoft YaHei"/>
              </a:rPr>
              <a:t>• Braun (Series 9 Pro) — 高端 Foil Shaver 首選，敏感肌訴求</a:t>
            </a:r>
          </a:p>
          <a:p>
            <a:pPr algn="l"/>
            <a:r>
              <a:rPr sz="950" b="0">
                <a:solidFill>
                  <a:srgbClr val="4A4A4A"/>
                </a:solidFill>
                <a:latin typeface="Microsoft YaHei"/>
              </a:rPr>
              <a:t>• Manscaped (Lawn Mower 5.0 Ultra) — Body Groomer 標竿、強行銷</a:t>
            </a:r>
          </a:p>
          <a:p>
            <a:pPr algn="l"/>
            <a:r>
              <a:rPr sz="950" b="0">
                <a:solidFill>
                  <a:srgbClr val="4A4A4A"/>
                </a:solidFill>
                <a:latin typeface="Microsoft YaHei"/>
              </a:rPr>
              <a:t>• Panasonic Arc 5 / Lambdash — Reddit『best bang for buck』</a:t>
            </a:r>
          </a:p>
          <a:p>
            <a:pPr algn="l"/>
            <a:r>
              <a:rPr sz="950" b="0">
                <a:solidFill>
                  <a:srgbClr val="4A4A4A"/>
                </a:solidFill>
                <a:latin typeface="Microsoft YaHei"/>
              </a:rPr>
              <a:t>• Conair (B008KEJ1LM) — 入門價格錨</a:t>
            </a:r>
          </a:p>
          <a:p>
            <a:pPr algn="l"/>
            <a:r>
              <a:rPr sz="950" b="0">
                <a:solidFill>
                  <a:srgbClr val="4A4A4A"/>
                </a:solidFill>
                <a:latin typeface="Microsoft YaHei"/>
              </a:rPr>
              <a:t>• ANGFAN / Valano / INVJOY — 中國新進品牌，高 spec 低價</a:t>
            </a:r>
          </a:p>
          <a:p>
            <a:pPr algn="l"/>
            <a:r>
              <a:rPr sz="900" b="0">
                <a:solidFill>
                  <a:srgbClr val="4A4A4A"/>
                </a:solidFill>
                <a:latin typeface="Microsoft YaHei"/>
              </a:rPr>
              <a:t/>
            </a:r>
          </a:p>
          <a:p>
            <a:pPr algn="l"/>
            <a:r>
              <a:rPr sz="1200" b="1">
                <a:solidFill>
                  <a:srgbClr val="4A4A4A"/>
                </a:solidFill>
                <a:latin typeface="Microsoft YaHei"/>
              </a:rPr>
              <a:t>日本市場主要競爭者</a:t>
            </a:r>
          </a:p>
          <a:p>
            <a:pPr algn="l"/>
            <a:r>
              <a:rPr sz="950" b="0">
                <a:solidFill>
                  <a:srgbClr val="4A4A4A"/>
                </a:solidFill>
                <a:latin typeface="Microsoft YaHei"/>
              </a:rPr>
              <a:t>• Panasonic — 全品類絕對王者 (ER-GB74-S, ER-GN71, ES-WF41)</a:t>
            </a:r>
          </a:p>
          <a:p>
            <a:pPr algn="l"/>
            <a:r>
              <a:rPr sz="950" b="0">
                <a:solidFill>
                  <a:srgbClr val="4A4A4A"/>
                </a:solidFill>
                <a:latin typeface="Microsoft YaHei"/>
              </a:rPr>
              <a:t>• Philips Norelco — 海外品牌派、眾多附件</a:t>
            </a:r>
          </a:p>
          <a:p>
            <a:pPr algn="l"/>
            <a:r>
              <a:rPr sz="950" b="0">
                <a:solidFill>
                  <a:srgbClr val="4A4A4A"/>
                </a:solidFill>
                <a:latin typeface="Microsoft YaHei"/>
              </a:rPr>
              <a:t>• 日立 / Maxell IZUMI — マイベスト#1 鼻毛電剪</a:t>
            </a:r>
          </a:p>
          <a:p>
            <a:pPr algn="l"/>
            <a:r>
              <a:rPr sz="950" b="0">
                <a:solidFill>
                  <a:srgbClr val="4A4A4A"/>
                </a:solidFill>
                <a:latin typeface="Microsoft YaHei"/>
              </a:rPr>
              <a:t>• Braun — ドイツ信仰、頂級 Foil Shaver</a:t>
            </a:r>
          </a:p>
          <a:p>
            <a:pPr algn="l"/>
            <a:r>
              <a:rPr sz="950" b="0">
                <a:solidFill>
                  <a:srgbClr val="4A4A4A"/>
                </a:solidFill>
                <a:latin typeface="Microsoft YaHei"/>
              </a:rPr>
              <a:t>• 皇家 (Royal) ET-3 — 手動鼻毛派長期 Bestseller</a:t>
            </a:r>
          </a:p>
          <a:p>
            <a:pPr algn="l"/>
            <a:r>
              <a:rPr sz="950" b="0">
                <a:solidFill>
                  <a:srgbClr val="4A4A4A"/>
                </a:solidFill>
                <a:latin typeface="Microsoft YaHei"/>
              </a:rPr>
              <a:t>• Pateker (B01K73KIMO) — 寵物電剪日本長期 No.1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914400"/>
            <a:ext cx="5669280" cy="5303520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0058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B2E4F"/>
                </a:solidFill>
                <a:latin typeface="Microsoft YaHei"/>
              </a:rPr>
              <a:t>S/W 排除規則 (來自 SWOT 設計原則)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417320"/>
            <a:ext cx="5394960" cy="4754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>
            <a:spAutoFit/>
          </a:bodyPr>
          <a:lstStyle/>
          <a:p>
            <a:pPr algn="l"/>
            <a:r>
              <a:rPr sz="1100" b="1">
                <a:solidFill>
                  <a:srgbClr val="4A4A4A"/>
                </a:solidFill>
                <a:latin typeface="Microsoft YaHei"/>
              </a:rPr>
              <a:t>不算 S 的項目 (競爭者也具備)：</a:t>
            </a:r>
          </a:p>
          <a:p>
            <a:pPr algn="l"/>
            <a:r>
              <a:rPr sz="950" b="0">
                <a:solidFill>
                  <a:srgbClr val="4A4A4A"/>
                </a:solidFill>
                <a:latin typeface="Microsoft YaHei"/>
              </a:rPr>
              <a:t>• IPX7/IPX8 防水 → 兩市場標配</a:t>
            </a:r>
          </a:p>
          <a:p>
            <a:pPr algn="l"/>
            <a:r>
              <a:rPr sz="950" b="0">
                <a:solidFill>
                  <a:srgbClr val="4A4A4A"/>
                </a:solidFill>
                <a:latin typeface="Microsoft YaHei"/>
              </a:rPr>
              <a:t>• USB-C 充電 / LED 電量顯示 → 中階以上標配</a:t>
            </a:r>
          </a:p>
          <a:p>
            <a:pPr algn="l"/>
            <a:r>
              <a:rPr sz="950" b="0">
                <a:solidFill>
                  <a:srgbClr val="4A4A4A"/>
                </a:solidFill>
                <a:latin typeface="Microsoft YaHei"/>
              </a:rPr>
              <a:t>• Multi-attachment (4-7 件) → 全品牌都有</a:t>
            </a:r>
          </a:p>
          <a:p>
            <a:pPr algn="l"/>
            <a:r>
              <a:rPr sz="950" b="0">
                <a:solidFill>
                  <a:srgbClr val="4A4A4A"/>
                </a:solidFill>
                <a:latin typeface="Microsoft YaHei"/>
              </a:rPr>
              <a:t>• Multi-functional 套組 → 全品牌都有</a:t>
            </a:r>
          </a:p>
          <a:p>
            <a:pPr algn="l"/>
            <a:r>
              <a:rPr sz="950" b="0">
                <a:solidFill>
                  <a:srgbClr val="4A4A4A"/>
                </a:solidFill>
                <a:latin typeface="Microsoft YaHei"/>
              </a:rPr>
              <a:t>• 鋰電池長續航 → 業界共識</a:t>
            </a:r>
          </a:p>
          <a:p>
            <a:pPr algn="l"/>
            <a:r>
              <a:rPr sz="900" b="0">
                <a:solidFill>
                  <a:srgbClr val="4A4A4A"/>
                </a:solidFill>
                <a:latin typeface="Microsoft YaHei"/>
              </a:rPr>
              <a:t/>
            </a:r>
          </a:p>
          <a:p>
            <a:pPr algn="l"/>
            <a:r>
              <a:rPr sz="1100" b="1">
                <a:solidFill>
                  <a:srgbClr val="4A4A4A"/>
                </a:solidFill>
                <a:latin typeface="Microsoft YaHei"/>
              </a:rPr>
              <a:t>不算 W 的項目 (定位選擇/外部現況)：</a:t>
            </a:r>
          </a:p>
          <a:p>
            <a:pPr algn="l"/>
            <a:r>
              <a:rPr sz="950" b="0">
                <a:solidFill>
                  <a:srgbClr val="4A4A4A"/>
                </a:solidFill>
                <a:latin typeface="Microsoft YaHei"/>
              </a:rPr>
              <a:t>• 『價格高於 Conair』→ 定位選擇 (中階定位)</a:t>
            </a:r>
          </a:p>
          <a:p>
            <a:pPr algn="l"/>
            <a:r>
              <a:rPr sz="950" b="0">
                <a:solidFill>
                  <a:srgbClr val="4A4A4A"/>
                </a:solidFill>
                <a:latin typeface="Microsoft YaHei"/>
              </a:rPr>
              <a:t>• 『預算不足』→ 是中小企業現況、非競爭劣勢</a:t>
            </a:r>
          </a:p>
          <a:p>
            <a:pPr algn="l"/>
            <a:r>
              <a:rPr sz="950" b="0">
                <a:solidFill>
                  <a:srgbClr val="4A4A4A"/>
                </a:solidFill>
                <a:latin typeface="Microsoft YaHei"/>
              </a:rPr>
              <a:t>• 『中文資源多日文少』→ 已透過 OBM 在地化</a:t>
            </a:r>
          </a:p>
          <a:p>
            <a:pPr algn="l"/>
            <a:r>
              <a:rPr sz="900" b="0">
                <a:solidFill>
                  <a:srgbClr val="4A4A4A"/>
                </a:solidFill>
                <a:latin typeface="Microsoft YaHei"/>
              </a:rPr>
              <a:t/>
            </a:r>
          </a:p>
          <a:p>
            <a:pPr algn="l"/>
            <a:r>
              <a:rPr sz="1100" b="1">
                <a:solidFill>
                  <a:srgbClr val="4A4A4A"/>
                </a:solidFill>
                <a:latin typeface="Microsoft YaHei"/>
              </a:rPr>
              <a:t>S 必須通過四關：</a:t>
            </a:r>
          </a:p>
          <a:p>
            <a:pPr algn="l"/>
            <a:r>
              <a:rPr sz="950" b="0">
                <a:solidFill>
                  <a:srgbClr val="4A4A4A"/>
                </a:solidFill>
                <a:latin typeface="Microsoft YaHei"/>
              </a:rPr>
              <a:t>① 市場驗證 (評論數據/銷售支撐)</a:t>
            </a:r>
          </a:p>
          <a:p>
            <a:pPr algn="l"/>
            <a:r>
              <a:rPr sz="950" b="0">
                <a:solidFill>
                  <a:srgbClr val="4A4A4A"/>
                </a:solidFill>
                <a:latin typeface="Microsoft YaHei"/>
              </a:rPr>
              <a:t>② 相對於競爭者 (非絕對能力)</a:t>
            </a:r>
          </a:p>
          <a:p>
            <a:pPr algn="l"/>
            <a:r>
              <a:rPr sz="950" b="0">
                <a:solidFill>
                  <a:srgbClr val="4A4A4A"/>
                </a:solidFill>
                <a:latin typeface="Microsoft YaHei"/>
              </a:rPr>
              <a:t>③ 不受公司近期績效污染</a:t>
            </a:r>
          </a:p>
          <a:p>
            <a:pPr algn="l"/>
            <a:r>
              <a:rPr sz="950" b="0">
                <a:solidFill>
                  <a:srgbClr val="4A4A4A"/>
                </a:solidFill>
                <a:latin typeface="Microsoft YaHei"/>
              </a:rPr>
              <a:t>④ 顧客能感受並影響選擇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53796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4A4A4A"/>
                </a:solidFill>
                <a:latin typeface="Microsoft YaHei"/>
              </a:rPr>
              <a:t>URBANER × FourSight Lab  |  3/18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整體 BMC — 震央選擇 (Epicenter Selection)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C99A3B"/>
                </a:solidFill>
                <a:latin typeface="Microsoft YaHei"/>
              </a:rPr>
              <a:t>從四個創新起點中，選定『資源導向』作為整體商業模式設計錨點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"/>
            <a:ext cx="12191695" cy="45720"/>
          </a:xfrm>
          <a:prstGeom prst="rect">
            <a:avLst/>
          </a:prstGeom>
          <a:solidFill>
            <a:srgbClr val="C9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5577840" cy="2788920"/>
          </a:xfrm>
          <a:prstGeom prst="rect">
            <a:avLst/>
          </a:prstGeom>
          <a:solidFill>
            <a:srgbClr val="F5F2EC"/>
          </a:solidFill>
          <a:ln w="31750">
            <a:solidFill>
              <a:srgbClr val="C99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05840"/>
            <a:ext cx="5577840" cy="457200"/>
          </a:xfrm>
          <a:prstGeom prst="rect">
            <a:avLst/>
          </a:prstGeom>
          <a:solidFill>
            <a:srgbClr val="C9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051560"/>
            <a:ext cx="5394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0B2E4F"/>
                </a:solidFill>
                <a:latin typeface="Microsoft YaHei"/>
              </a:rPr>
              <a:t>資源導向  (Resource-Driven)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54480"/>
            <a:ext cx="5303520" cy="21945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>
            <a:spAutoFit/>
          </a:bodyPr>
          <a:lstStyle/>
          <a:p>
            <a:pPr algn="l"/>
            <a:r>
              <a:rPr sz="1000" b="1">
                <a:solidFill>
                  <a:srgbClr val="4A4A4A"/>
                </a:solidFill>
                <a:latin typeface="Microsoft YaHei"/>
              </a:rPr>
              <a:t>核心定義：</a:t>
            </a:r>
          </a:p>
          <a:p>
            <a:pPr algn="l"/>
            <a:r>
              <a:rPr sz="950" b="0">
                <a:solidFill>
                  <a:srgbClr val="4A4A4A"/>
                </a:solidFill>
                <a:latin typeface="Microsoft YaHei"/>
              </a:rPr>
              <a:t>  47 年 OEM 代工歐美日品牌的製造職人能力 (1977-2014 替 Panasonic 等代工)</a:t>
            </a:r>
          </a:p>
          <a:p>
            <a:pPr algn="l"/>
            <a:r>
              <a:rPr sz="800" b="0">
                <a:solidFill>
                  <a:srgbClr val="4A4A4A"/>
                </a:solidFill>
                <a:latin typeface="Microsoft YaHei"/>
              </a:rPr>
              <a:t/>
            </a:r>
          </a:p>
          <a:p>
            <a:pPr algn="l"/>
            <a:r>
              <a:rPr sz="1150" b="1">
                <a:solidFill>
                  <a:srgbClr val="4A4A4A"/>
                </a:solidFill>
                <a:latin typeface="Microsoft YaHei"/>
              </a:rPr>
              <a:t>✓ 選定：URBANER 整體商模震央</a:t>
            </a:r>
          </a:p>
          <a:p>
            <a:pPr algn="l"/>
            <a:r>
              <a:rPr sz="950" b="0">
                <a:solidFill>
                  <a:srgbClr val="4A4A4A"/>
                </a:solidFill>
                <a:latin typeface="Microsoft YaHei"/>
              </a:rPr>
              <a:t>  理由：這是兩市場都能用、競爭者複製成本最高的根基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005840"/>
            <a:ext cx="557784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005840"/>
            <a:ext cx="5577840" cy="4572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051560"/>
            <a:ext cx="5394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YaHei"/>
              </a:rPr>
              <a:t>產品導向  (Product-Driven)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554480"/>
            <a:ext cx="5303520" cy="21945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>
            <a:spAutoFit/>
          </a:bodyPr>
          <a:lstStyle/>
          <a:p>
            <a:pPr algn="l"/>
            <a:r>
              <a:rPr sz="1000" b="1">
                <a:solidFill>
                  <a:srgbClr val="4A4A4A"/>
                </a:solidFill>
                <a:latin typeface="Microsoft YaHei"/>
              </a:rPr>
              <a:t>核心定義：</a:t>
            </a:r>
          </a:p>
          <a:p>
            <a:pPr algn="l"/>
            <a:r>
              <a:rPr sz="950" b="0">
                <a:solidFill>
                  <a:srgbClr val="4A4A4A"/>
                </a:solidFill>
                <a:latin typeface="Microsoft YaHei"/>
              </a:rPr>
              <a:t>  以 IPX8 + 0.5mm 精度 + 38 段刻度等規格作為設計原點</a:t>
            </a:r>
          </a:p>
          <a:p>
            <a:pPr algn="l"/>
            <a:r>
              <a:rPr sz="800" b="0">
                <a:solidFill>
                  <a:srgbClr val="4A4A4A"/>
                </a:solidFill>
                <a:latin typeface="Microsoft YaHei"/>
              </a:rPr>
              <a:t/>
            </a:r>
          </a:p>
          <a:p>
            <a:pPr algn="l"/>
            <a:r>
              <a:rPr sz="1150" b="1">
                <a:solidFill>
                  <a:srgbClr val="4A4A4A"/>
                </a:solidFill>
                <a:latin typeface="Microsoft YaHei"/>
              </a:rPr>
              <a:t>× 不選為整體震央</a:t>
            </a:r>
          </a:p>
          <a:p>
            <a:pPr algn="l"/>
            <a:r>
              <a:rPr sz="950" b="0">
                <a:solidFill>
                  <a:srgbClr val="4A4A4A"/>
                </a:solidFill>
                <a:latin typeface="Microsoft YaHei"/>
              </a:rPr>
              <a:t>  規格 (IPX7/USB-C) 已是全業界標配，無法構成整體差異化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931920"/>
            <a:ext cx="557784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3931920"/>
            <a:ext cx="5577840" cy="4572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977640"/>
            <a:ext cx="5394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YaHei"/>
              </a:rPr>
              <a:t>顧客導向  (Customer-Driven)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480560"/>
            <a:ext cx="5303520" cy="21945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>
            <a:spAutoFit/>
          </a:bodyPr>
          <a:lstStyle/>
          <a:p>
            <a:pPr algn="l"/>
            <a:r>
              <a:rPr sz="1000" b="1">
                <a:solidFill>
                  <a:srgbClr val="4A4A4A"/>
                </a:solidFill>
                <a:latin typeface="Microsoft YaHei"/>
              </a:rPr>
              <a:t>核心定義：</a:t>
            </a:r>
          </a:p>
          <a:p>
            <a:pPr algn="l"/>
            <a:r>
              <a:rPr sz="950" b="0">
                <a:solidFill>
                  <a:srgbClr val="4A4A4A"/>
                </a:solidFill>
                <a:latin typeface="Microsoft YaHei"/>
              </a:rPr>
              <a:t>  以 US 送禮買家 + JP 精度買家為核心、回推產品</a:t>
            </a:r>
          </a:p>
          <a:p>
            <a:pPr algn="l"/>
            <a:r>
              <a:rPr sz="800" b="0">
                <a:solidFill>
                  <a:srgbClr val="4A4A4A"/>
                </a:solidFill>
                <a:latin typeface="Microsoft YaHei"/>
              </a:rPr>
              <a:t/>
            </a:r>
          </a:p>
          <a:p>
            <a:pPr algn="l"/>
            <a:r>
              <a:rPr sz="1150" b="1">
                <a:solidFill>
                  <a:srgbClr val="4A4A4A"/>
                </a:solidFill>
                <a:latin typeface="Microsoft YaHei"/>
              </a:rPr>
              <a:t>△ 不選為整體震央，但是 US 區域震央</a:t>
            </a:r>
          </a:p>
          <a:p>
            <a:pPr algn="l"/>
            <a:r>
              <a:rPr sz="950" b="0">
                <a:solidFill>
                  <a:srgbClr val="4A4A4A"/>
                </a:solidFill>
                <a:latin typeface="Microsoft YaHei"/>
              </a:rPr>
              <a:t>  兩市場顧客行為差異過大，不適合作為單一整體錨點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3931920"/>
            <a:ext cx="557784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3931920"/>
            <a:ext cx="5577840" cy="4572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3977640"/>
            <a:ext cx="5394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YaHei"/>
              </a:rPr>
              <a:t>財務導向  (Finance-Driven)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480560"/>
            <a:ext cx="5303520" cy="21945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>
            <a:spAutoFit/>
          </a:bodyPr>
          <a:lstStyle/>
          <a:p>
            <a:pPr algn="l"/>
            <a:r>
              <a:rPr sz="1000" b="1">
                <a:solidFill>
                  <a:srgbClr val="4A4A4A"/>
                </a:solidFill>
                <a:latin typeface="Microsoft YaHei"/>
              </a:rPr>
              <a:t>核心定義：</a:t>
            </a:r>
          </a:p>
          <a:p>
            <a:pPr algn="l"/>
            <a:r>
              <a:rPr sz="950" b="0">
                <a:solidFill>
                  <a:srgbClr val="4A4A4A"/>
                </a:solidFill>
                <a:latin typeface="Microsoft YaHei"/>
              </a:rPr>
              <a:t>  OBM 自有品牌毛利 (高於 OEM 代工)、雙引擎收入</a:t>
            </a:r>
          </a:p>
          <a:p>
            <a:pPr algn="l"/>
            <a:r>
              <a:rPr sz="800" b="0">
                <a:solidFill>
                  <a:srgbClr val="4A4A4A"/>
                </a:solidFill>
                <a:latin typeface="Microsoft YaHei"/>
              </a:rPr>
              <a:t/>
            </a:r>
          </a:p>
          <a:p>
            <a:pPr algn="l"/>
            <a:r>
              <a:rPr sz="1150" b="1">
                <a:solidFill>
                  <a:srgbClr val="4A4A4A"/>
                </a:solidFill>
                <a:latin typeface="Microsoft YaHei"/>
              </a:rPr>
              <a:t>× 不選為整體震央</a:t>
            </a:r>
          </a:p>
          <a:p>
            <a:pPr algn="l"/>
            <a:r>
              <a:rPr sz="950" b="0">
                <a:solidFill>
                  <a:srgbClr val="4A4A4A"/>
                </a:solidFill>
                <a:latin typeface="Microsoft YaHei"/>
              </a:rPr>
              <a:t>  財務是結果而非原因；OBM 轉型已完成 (2020 OBM &gt; OEM)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53796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4A4A4A"/>
                </a:solidFill>
                <a:latin typeface="Microsoft YaHei"/>
              </a:rPr>
              <a:t>URBANER × FourSight Lab  |  4/18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整體商業模式圖 (BMC) — 震央：47 年 OEM 職人製造能力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C99A3B"/>
                </a:solidFill>
                <a:latin typeface="Microsoft YaHei"/>
              </a:rPr>
              <a:t>9 大要素 × 兩市場通用層；US/JP 差異化內容於後續分頁呈現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"/>
            <a:ext cx="12191695" cy="45720"/>
          </a:xfrm>
          <a:prstGeom prst="rect">
            <a:avLst/>
          </a:prstGeom>
          <a:solidFill>
            <a:srgbClr val="C9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960120"/>
            <a:ext cx="2331720" cy="2606040"/>
          </a:xfrm>
          <a:prstGeom prst="rect">
            <a:avLst/>
          </a:prstGeom>
          <a:solidFill>
            <a:srgbClr val="F5F2EC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960120"/>
            <a:ext cx="2331720" cy="292608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987552"/>
            <a:ext cx="218541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/>
              </a:rPr>
              <a:t>① 關鍵合作夥伴 KP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289304"/>
            <a:ext cx="2240280" cy="22402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>
            <a:spAutoFit/>
          </a:bodyPr>
          <a:lstStyle/>
          <a:p>
            <a:pPr algn="l"/>
            <a:r>
              <a:rPr sz="800" b="0">
                <a:solidFill>
                  <a:srgbClr val="4A4A4A"/>
                </a:solidFill>
                <a:latin typeface="Microsoft YaHei"/>
              </a:rPr>
              <a:t>• 代工夥伴：原 47 年合作的歐美日品牌 (Panasonic 等)</a:t>
            </a:r>
          </a:p>
          <a:p>
            <a:pPr algn="l"/>
            <a:r>
              <a:rPr sz="800" b="0">
                <a:solidFill>
                  <a:srgbClr val="4A4A4A"/>
                </a:solidFill>
                <a:latin typeface="Microsoft YaHei"/>
              </a:rPr>
              <a:t>  ─ 持續代工保留現金流</a:t>
            </a:r>
          </a:p>
          <a:p>
            <a:pPr algn="l"/>
            <a:r>
              <a:rPr sz="800" b="0">
                <a:solidFill>
                  <a:srgbClr val="4A4A4A"/>
                </a:solidFill>
                <a:latin typeface="Microsoft YaHei"/>
              </a:rPr>
              <a:t>• Amazon (US/JP) — 主力銷售平台</a:t>
            </a:r>
          </a:p>
          <a:p>
            <a:pPr algn="l"/>
            <a:r>
              <a:rPr sz="800" b="0">
                <a:solidFill>
                  <a:srgbClr val="4A4A4A"/>
                </a:solidFill>
                <a:latin typeface="Microsoft YaHei"/>
              </a:rPr>
              <a:t>• 樂天市場 — 台灣廠商稀缺直營資格</a:t>
            </a:r>
          </a:p>
          <a:p>
            <a:pPr algn="l"/>
            <a:r>
              <a:rPr sz="800" b="0">
                <a:solidFill>
                  <a:srgbClr val="4A4A4A"/>
                </a:solidFill>
                <a:latin typeface="Microsoft YaHei"/>
              </a:rPr>
              <a:t>• 群眾募資平台 (日本) — 品牌曝光</a:t>
            </a:r>
          </a:p>
          <a:p>
            <a:pPr algn="l"/>
            <a:r>
              <a:rPr sz="800" b="0">
                <a:solidFill>
                  <a:srgbClr val="4A4A4A"/>
                </a:solidFill>
                <a:latin typeface="Microsoft YaHei"/>
              </a:rPr>
              <a:t>• 中國/越南 OEM 製造夥伴 — 補產能</a:t>
            </a:r>
          </a:p>
          <a:p>
            <a:pPr algn="l"/>
            <a:r>
              <a:rPr sz="800" b="0">
                <a:solidFill>
                  <a:srgbClr val="4A4A4A"/>
                </a:solidFill>
                <a:latin typeface="Microsoft YaHei"/>
              </a:rPr>
              <a:t>• 日本物流商 — 在地倉儲與保固</a:t>
            </a:r>
          </a:p>
          <a:p>
            <a:pPr algn="l"/>
            <a:r>
              <a:rPr sz="800" b="0">
                <a:solidFill>
                  <a:srgbClr val="4A4A4A"/>
                </a:solidFill>
                <a:latin typeface="Microsoft YaHei"/>
              </a:rPr>
              <a:t>• 跨境金物流支付服務商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79192" y="960120"/>
            <a:ext cx="2331720" cy="1271016"/>
          </a:xfrm>
          <a:prstGeom prst="rect">
            <a:avLst/>
          </a:prstGeom>
          <a:solidFill>
            <a:srgbClr val="F5F2EC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679192" y="960120"/>
            <a:ext cx="2331720" cy="292608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52344" y="987552"/>
            <a:ext cx="218541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/>
              </a:rPr>
              <a:t>② 關鍵活動 KA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24912" y="1289304"/>
            <a:ext cx="2240280" cy="9052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>
            <a:spAutoFit/>
          </a:bodyPr>
          <a:lstStyle/>
          <a:p>
            <a:pPr algn="l"/>
            <a:r>
              <a:rPr sz="800" b="0">
                <a:solidFill>
                  <a:srgbClr val="4A4A4A"/>
                </a:solidFill>
                <a:latin typeface="Microsoft YaHei"/>
              </a:rPr>
              <a:t>• 產品設計 + 模具開發 (留台)</a:t>
            </a:r>
          </a:p>
          <a:p>
            <a:pPr algn="l"/>
            <a:r>
              <a:rPr sz="800" b="0">
                <a:solidFill>
                  <a:srgbClr val="4A4A4A"/>
                </a:solidFill>
                <a:latin typeface="Microsoft YaHei"/>
              </a:rPr>
              <a:t>• Amazon Listing × A+ 內容 × 廣告操作</a:t>
            </a:r>
          </a:p>
          <a:p>
            <a:pPr algn="l"/>
            <a:r>
              <a:rPr sz="800" b="0">
                <a:solidFill>
                  <a:srgbClr val="4A4A4A"/>
                </a:solidFill>
                <a:latin typeface="Microsoft YaHei"/>
              </a:rPr>
              <a:t>• 雙語 (英/日) 在地化內容生產</a:t>
            </a:r>
          </a:p>
          <a:p>
            <a:pPr algn="l"/>
            <a:r>
              <a:rPr sz="800" b="0">
                <a:solidFill>
                  <a:srgbClr val="4A4A4A"/>
                </a:solidFill>
                <a:latin typeface="Microsoft YaHei"/>
              </a:rPr>
              <a:t>• 評論監控 + 屬性回饋至 R&amp;D</a:t>
            </a:r>
          </a:p>
          <a:p>
            <a:pPr algn="l"/>
            <a:r>
              <a:rPr sz="800" b="0">
                <a:solidFill>
                  <a:srgbClr val="4A4A4A"/>
                </a:solidFill>
                <a:latin typeface="Microsoft YaHei"/>
              </a:rPr>
              <a:t>• OEM × OBM 雙引擎平衡管理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79192" y="2304288"/>
            <a:ext cx="2331720" cy="1271016"/>
          </a:xfrm>
          <a:prstGeom prst="rect">
            <a:avLst/>
          </a:prstGeom>
          <a:solidFill>
            <a:srgbClr val="F5F2EC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79192" y="2304288"/>
            <a:ext cx="2331720" cy="292608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52344" y="2331720"/>
            <a:ext cx="218541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/>
              </a:rPr>
              <a:t>③ 關鍵資源 KR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24912" y="2633472"/>
            <a:ext cx="2240280" cy="9052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>
            <a:spAutoFit/>
          </a:bodyPr>
          <a:lstStyle/>
          <a:p>
            <a:pPr algn="l"/>
            <a:r>
              <a:rPr sz="800" b="0">
                <a:solidFill>
                  <a:srgbClr val="4A4A4A"/>
                </a:solidFill>
                <a:latin typeface="Microsoft YaHei"/>
              </a:rPr>
              <a:t>• 47 年 OEM 製造 know-how × 模具</a:t>
            </a:r>
          </a:p>
          <a:p>
            <a:pPr algn="l"/>
            <a:r>
              <a:rPr sz="800" b="0">
                <a:solidFill>
                  <a:srgbClr val="4A4A4A"/>
                </a:solidFill>
                <a:latin typeface="Microsoft YaHei"/>
              </a:rPr>
              <a:t>• 11,523 則自有 Amazon 評論資產</a:t>
            </a:r>
          </a:p>
          <a:p>
            <a:pPr algn="l"/>
            <a:r>
              <a:rPr sz="800" b="0">
                <a:solidFill>
                  <a:srgbClr val="4A4A4A"/>
                </a:solidFill>
                <a:latin typeface="Microsoft YaHei"/>
              </a:rPr>
              <a:t>• 樂天直營資格 (台廠稀缺)</a:t>
            </a:r>
          </a:p>
          <a:p>
            <a:pPr algn="l"/>
            <a:r>
              <a:rPr sz="800" b="0">
                <a:solidFill>
                  <a:srgbClr val="4A4A4A"/>
                </a:solidFill>
                <a:latin typeface="Microsoft YaHei"/>
              </a:rPr>
              <a:t>• 林雷鈞家族二代接班團隊</a:t>
            </a:r>
          </a:p>
          <a:p>
            <a:pPr algn="l"/>
            <a:r>
              <a:rPr sz="800" b="0">
                <a:solidFill>
                  <a:srgbClr val="4A4A4A"/>
                </a:solidFill>
                <a:latin typeface="Microsoft YaHei"/>
              </a:rPr>
              <a:t>• 日本 URBANER 跨境官網與品牌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84064" y="960120"/>
            <a:ext cx="2377440" cy="2606040"/>
          </a:xfrm>
          <a:prstGeom prst="rect">
            <a:avLst/>
          </a:prstGeom>
          <a:solidFill>
            <a:srgbClr val="F5F2EC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84064" y="960120"/>
            <a:ext cx="2377440" cy="292608"/>
          </a:xfrm>
          <a:prstGeom prst="rect">
            <a:avLst/>
          </a:prstGeom>
          <a:solidFill>
            <a:srgbClr val="C9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57216" y="987552"/>
            <a:ext cx="223113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/>
              </a:rPr>
              <a:t>④ 價值主張 VP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9784" y="1289304"/>
            <a:ext cx="2286000" cy="22402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>
            <a:spAutoFit/>
          </a:bodyPr>
          <a:lstStyle/>
          <a:p>
            <a:pPr algn="l"/>
            <a:r>
              <a:rPr sz="1100" b="1">
                <a:solidFill>
                  <a:srgbClr val="4A4A4A"/>
                </a:solidFill>
                <a:latin typeface="Microsoft YaHei"/>
              </a:rPr>
              <a:t>『品味源自細節』</a:t>
            </a:r>
          </a:p>
          <a:p>
            <a:pPr algn="l"/>
            <a:r>
              <a:rPr sz="900" b="1">
                <a:solidFill>
                  <a:srgbClr val="4A4A4A"/>
                </a:solidFill>
                <a:latin typeface="Microsoft YaHei"/>
              </a:rPr>
              <a:t>Bright Idea, Great Value</a:t>
            </a:r>
          </a:p>
          <a:p>
            <a:pPr algn="l"/>
            <a:r>
              <a:rPr sz="600" b="0">
                <a:solidFill>
                  <a:srgbClr val="4A4A4A"/>
                </a:solidFill>
                <a:latin typeface="Microsoft YaHei"/>
              </a:rPr>
              <a:t/>
            </a:r>
          </a:p>
          <a:p>
            <a:pPr algn="l"/>
            <a:r>
              <a:rPr sz="850" b="0">
                <a:solidFill>
                  <a:srgbClr val="4A4A4A"/>
                </a:solidFill>
                <a:latin typeface="Microsoft YaHei"/>
              </a:rPr>
              <a:t>• 日系工藝 × 台灣設計 × 親民售價</a:t>
            </a:r>
          </a:p>
          <a:p>
            <a:pPr algn="l"/>
            <a:r>
              <a:rPr sz="850" b="0">
                <a:solidFill>
                  <a:srgbClr val="4A4A4A"/>
                </a:solidFill>
                <a:latin typeface="Microsoft YaHei"/>
              </a:rPr>
              <a:t>  (Conair 入門以上，Braun 旗艦以下)</a:t>
            </a:r>
          </a:p>
          <a:p>
            <a:pPr algn="l"/>
            <a:r>
              <a:rPr sz="500" b="0">
                <a:solidFill>
                  <a:srgbClr val="4A4A4A"/>
                </a:solidFill>
                <a:latin typeface="Microsoft YaHei"/>
              </a:rPr>
              <a:t/>
            </a:r>
          </a:p>
          <a:p>
            <a:pPr algn="l"/>
            <a:r>
              <a:rPr sz="850" b="0">
                <a:solidFill>
                  <a:srgbClr val="4A4A4A"/>
                </a:solidFill>
                <a:latin typeface="Microsoft YaHei"/>
              </a:rPr>
              <a:t>• 一機多用 + 完整附件 (4-7 件)</a:t>
            </a:r>
          </a:p>
          <a:p>
            <a:pPr algn="l"/>
            <a:r>
              <a:rPr sz="850" b="0">
                <a:solidFill>
                  <a:srgbClr val="4A4A4A"/>
                </a:solidFill>
                <a:latin typeface="Microsoft YaHei"/>
              </a:rPr>
              <a:t>• IPX7 全水洗、敏感肌友善</a:t>
            </a:r>
          </a:p>
          <a:p>
            <a:pPr algn="l"/>
            <a:r>
              <a:rPr sz="850" b="0">
                <a:solidFill>
                  <a:srgbClr val="4A4A4A"/>
                </a:solidFill>
                <a:latin typeface="Microsoft YaHei"/>
              </a:rPr>
              <a:t>• 47 年代工歐美日大廠的職人精神</a:t>
            </a:r>
          </a:p>
          <a:p>
            <a:pPr algn="l"/>
            <a:r>
              <a:rPr sz="850" b="0">
                <a:solidFill>
                  <a:srgbClr val="4A4A4A"/>
                </a:solidFill>
                <a:latin typeface="Microsoft YaHei"/>
              </a:rPr>
              <a:t>• Beard / Nose-Ear 雙旗艦明確</a:t>
            </a:r>
          </a:p>
          <a:p>
            <a:pPr algn="l"/>
            <a:r>
              <a:rPr sz="850" b="0">
                <a:solidFill>
                  <a:srgbClr val="4A4A4A"/>
                </a:solidFill>
                <a:latin typeface="Microsoft YaHei"/>
              </a:rPr>
              <a:t>• 雙市場差異化主打 SKU</a:t>
            </a:r>
          </a:p>
          <a:p>
            <a:pPr algn="l"/>
            <a:r>
              <a:rPr sz="850" b="0">
                <a:solidFill>
                  <a:srgbClr val="4A4A4A"/>
                </a:solidFill>
                <a:latin typeface="Microsoft YaHei"/>
              </a:rPr>
              <a:t>  US: B0FL267TCG (Beard)</a:t>
            </a:r>
          </a:p>
          <a:p>
            <a:pPr algn="l"/>
            <a:r>
              <a:rPr sz="850" b="0">
                <a:solidFill>
                  <a:srgbClr val="4A4A4A"/>
                </a:solidFill>
                <a:latin typeface="Microsoft YaHei"/>
              </a:rPr>
              <a:t>  JP: B0GBWZBMS5 (Nose/Ear)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34656" y="960120"/>
            <a:ext cx="2331720" cy="1271016"/>
          </a:xfrm>
          <a:prstGeom prst="rect">
            <a:avLst/>
          </a:prstGeom>
          <a:solidFill>
            <a:srgbClr val="F5F2EC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534656" y="960120"/>
            <a:ext cx="2331720" cy="292608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7808" y="987552"/>
            <a:ext cx="218541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/>
              </a:rPr>
              <a:t>⑤ 顧客關係 CR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0376" y="1289304"/>
            <a:ext cx="2240280" cy="9052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>
            <a:spAutoFit/>
          </a:bodyPr>
          <a:lstStyle/>
          <a:p>
            <a:pPr algn="l"/>
            <a:r>
              <a:rPr sz="800" b="0">
                <a:solidFill>
                  <a:srgbClr val="4A4A4A"/>
                </a:solidFill>
                <a:latin typeface="Microsoft YaHei"/>
              </a:rPr>
              <a:t>• Amazon 評論回應 + 改版迭代</a:t>
            </a:r>
          </a:p>
          <a:p>
            <a:pPr algn="l"/>
            <a:r>
              <a:rPr sz="800" b="0">
                <a:solidFill>
                  <a:srgbClr val="4A4A4A"/>
                </a:solidFill>
                <a:latin typeface="Microsoft YaHei"/>
              </a:rPr>
              <a:t>• 樂天直營店 1 年保固承諾</a:t>
            </a:r>
          </a:p>
          <a:p>
            <a:pPr algn="l"/>
            <a:r>
              <a:rPr sz="800" b="0">
                <a:solidFill>
                  <a:srgbClr val="4A4A4A"/>
                </a:solidFill>
                <a:latin typeface="Microsoft YaHei"/>
              </a:rPr>
              <a:t>• 日本『のし対応 + 禮盒包裝』在地服務</a:t>
            </a:r>
          </a:p>
          <a:p>
            <a:pPr algn="l"/>
            <a:r>
              <a:rPr sz="800" b="0">
                <a:solidFill>
                  <a:srgbClr val="4A4A4A"/>
                </a:solidFill>
                <a:latin typeface="Microsoft YaHei"/>
              </a:rPr>
              <a:t>• 跨境官網 FAQ (日文/英文)</a:t>
            </a:r>
          </a:p>
          <a:p>
            <a:pPr algn="l"/>
            <a:r>
              <a:rPr sz="800" b="0">
                <a:solidFill>
                  <a:srgbClr val="4A4A4A"/>
                </a:solidFill>
                <a:latin typeface="Microsoft YaHei"/>
              </a:rPr>
              <a:t>• 募資平台 backer 早鳥社群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34656" y="2304288"/>
            <a:ext cx="2331720" cy="1271016"/>
          </a:xfrm>
          <a:prstGeom prst="rect">
            <a:avLst/>
          </a:prstGeom>
          <a:solidFill>
            <a:srgbClr val="F5F2EC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534656" y="2304288"/>
            <a:ext cx="2331720" cy="292608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07808" y="2331720"/>
            <a:ext cx="218541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/>
              </a:rPr>
              <a:t>⑥ 通路 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0376" y="2633472"/>
            <a:ext cx="2240280" cy="9052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>
            <a:spAutoFit/>
          </a:bodyPr>
          <a:lstStyle/>
          <a:p>
            <a:pPr algn="l"/>
            <a:r>
              <a:rPr sz="800" b="0">
                <a:solidFill>
                  <a:srgbClr val="4A4A4A"/>
                </a:solidFill>
                <a:latin typeface="Microsoft YaHei"/>
              </a:rPr>
              <a:t>• Amazon US：amazon.com/urbaner</a:t>
            </a:r>
          </a:p>
          <a:p>
            <a:pPr algn="l"/>
            <a:r>
              <a:rPr sz="800" b="0">
                <a:solidFill>
                  <a:srgbClr val="4A4A4A"/>
                </a:solidFill>
                <a:latin typeface="Microsoft YaHei"/>
              </a:rPr>
              <a:t>• Amazon JP：amazon.co.jp/URBANER</a:t>
            </a:r>
          </a:p>
          <a:p>
            <a:pPr algn="l"/>
            <a:r>
              <a:rPr sz="800" b="0">
                <a:solidFill>
                  <a:srgbClr val="4A4A4A"/>
                </a:solidFill>
                <a:latin typeface="Microsoft YaHei"/>
              </a:rPr>
              <a:t>• 樂天市場 (JP)：台廠直營</a:t>
            </a:r>
          </a:p>
          <a:p>
            <a:pPr algn="l"/>
            <a:r>
              <a:rPr sz="800" b="0">
                <a:solidFill>
                  <a:srgbClr val="4A4A4A"/>
                </a:solidFill>
                <a:latin typeface="Microsoft YaHei"/>
              </a:rPr>
              <a:t>• 跨境官網：urbaner.jp/ja</a:t>
            </a:r>
          </a:p>
          <a:p>
            <a:pPr algn="l"/>
            <a:r>
              <a:rPr sz="800" b="0">
                <a:solidFill>
                  <a:srgbClr val="4A4A4A"/>
                </a:solidFill>
                <a:latin typeface="Microsoft YaHei"/>
              </a:rPr>
              <a:t>• 群眾募資 (JP) + 台灣本地電商/實體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939528" y="960120"/>
            <a:ext cx="2331720" cy="2606040"/>
          </a:xfrm>
          <a:prstGeom prst="rect">
            <a:avLst/>
          </a:prstGeom>
          <a:solidFill>
            <a:srgbClr val="F5F2EC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939528" y="960120"/>
            <a:ext cx="2331720" cy="292608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12680" y="987552"/>
            <a:ext cx="218541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/>
              </a:rPr>
              <a:t>⑦ 目標客群 CS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85248" y="1289304"/>
            <a:ext cx="2240280" cy="22402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>
            <a:spAutoFit/>
          </a:bodyPr>
          <a:lstStyle/>
          <a:p>
            <a:pPr algn="l"/>
            <a:r>
              <a:rPr sz="900" b="1">
                <a:solidFill>
                  <a:srgbClr val="4A4A4A"/>
                </a:solidFill>
                <a:latin typeface="Microsoft YaHei"/>
              </a:rPr>
              <a:t>整體目標：</a:t>
            </a:r>
          </a:p>
          <a:p>
            <a:pPr algn="l"/>
            <a:r>
              <a:rPr sz="850" b="0">
                <a:solidFill>
                  <a:srgbClr val="4A4A4A"/>
                </a:solidFill>
                <a:latin typeface="Microsoft YaHei"/>
              </a:rPr>
              <a:t>中階以上注重品味的男士/家庭顧客</a:t>
            </a:r>
          </a:p>
          <a:p>
            <a:pPr algn="l"/>
            <a:r>
              <a:rPr sz="500" b="0">
                <a:solidFill>
                  <a:srgbClr val="4A4A4A"/>
                </a:solidFill>
                <a:latin typeface="Microsoft YaHei"/>
              </a:rPr>
              <a:t/>
            </a:r>
          </a:p>
          <a:p>
            <a:pPr algn="l"/>
            <a:r>
              <a:rPr sz="900" b="1">
                <a:solidFill>
                  <a:srgbClr val="4A4A4A"/>
                </a:solidFill>
                <a:latin typeface="Microsoft YaHei"/>
              </a:rPr>
              <a:t>US 主力：</a:t>
            </a:r>
          </a:p>
          <a:p>
            <a:pPr algn="l"/>
            <a:r>
              <a:rPr sz="800" b="0">
                <a:solidFill>
                  <a:srgbClr val="4A4A4A"/>
                </a:solidFill>
                <a:latin typeface="Microsoft YaHei"/>
              </a:rPr>
              <a:t>• 父親節/聖誕節送禮買家 (Q2/Q4)</a:t>
            </a:r>
          </a:p>
          <a:p>
            <a:pPr algn="l"/>
            <a:r>
              <a:rPr sz="800" b="0">
                <a:solidFill>
                  <a:srgbClr val="4A4A4A"/>
                </a:solidFill>
                <a:latin typeface="Microsoft YaHei"/>
              </a:rPr>
              <a:t>• 76.5% Beard 多功能套組買家</a:t>
            </a:r>
          </a:p>
          <a:p>
            <a:pPr algn="l"/>
            <a:r>
              <a:rPr sz="500" b="0">
                <a:solidFill>
                  <a:srgbClr val="4A4A4A"/>
                </a:solidFill>
                <a:latin typeface="Microsoft YaHei"/>
              </a:rPr>
              <a:t/>
            </a:r>
          </a:p>
          <a:p>
            <a:pPr algn="l"/>
            <a:r>
              <a:rPr sz="900" b="1">
                <a:solidFill>
                  <a:srgbClr val="4A4A4A"/>
                </a:solidFill>
                <a:latin typeface="Microsoft YaHei"/>
              </a:rPr>
              <a:t>JP 主力：</a:t>
            </a:r>
          </a:p>
          <a:p>
            <a:pPr algn="l"/>
            <a:r>
              <a:rPr sz="800" b="0">
                <a:solidFill>
                  <a:srgbClr val="4A4A4A"/>
                </a:solidFill>
                <a:latin typeface="Microsoft YaHei"/>
              </a:rPr>
              <a:t>• 91.6% 鼻毛+鬍鬚 CP 值 / 易用</a:t>
            </a:r>
          </a:p>
          <a:p>
            <a:pPr algn="l"/>
            <a:r>
              <a:rPr sz="800" b="0">
                <a:solidFill>
                  <a:srgbClr val="4A4A4A"/>
                </a:solidFill>
                <a:latin typeface="Microsoft YaHei"/>
              </a:rPr>
              <a:t>• 7.8% 高精度刻度玩家</a:t>
            </a:r>
          </a:p>
          <a:p>
            <a:pPr algn="l"/>
            <a:r>
              <a:rPr sz="500" b="0">
                <a:solidFill>
                  <a:srgbClr val="4A4A4A"/>
                </a:solidFill>
                <a:latin typeface="Microsoft YaHei"/>
              </a:rPr>
              <a:t/>
            </a:r>
          </a:p>
          <a:p>
            <a:pPr algn="l"/>
            <a:r>
              <a:rPr sz="900" b="1">
                <a:solidFill>
                  <a:srgbClr val="4A4A4A"/>
                </a:solidFill>
                <a:latin typeface="Microsoft YaHei"/>
              </a:rPr>
              <a:t>跨市場：</a:t>
            </a:r>
          </a:p>
          <a:p>
            <a:pPr algn="l"/>
            <a:r>
              <a:rPr sz="800" b="0">
                <a:solidFill>
                  <a:srgbClr val="4A4A4A"/>
                </a:solidFill>
                <a:latin typeface="Microsoft YaHei"/>
              </a:rPr>
              <a:t>• 寵物/嬰兒類補強客群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3639312"/>
            <a:ext cx="5769864" cy="1234440"/>
          </a:xfrm>
          <a:prstGeom prst="rect">
            <a:avLst/>
          </a:prstGeom>
          <a:solidFill>
            <a:srgbClr val="F5F2EC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74320" y="3639312"/>
            <a:ext cx="5769864" cy="292608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47472" y="3666744"/>
            <a:ext cx="56235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/>
              </a:rPr>
              <a:t>⑧ 成本結構 Cost Structure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0040" y="3968496"/>
            <a:ext cx="5678424" cy="8686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>
            <a:spAutoFit/>
          </a:bodyPr>
          <a:lstStyle/>
          <a:p>
            <a:pPr algn="l"/>
            <a:r>
              <a:rPr sz="800" b="0">
                <a:solidFill>
                  <a:srgbClr val="4A4A4A"/>
                </a:solidFill>
                <a:latin typeface="Microsoft YaHei"/>
              </a:rPr>
              <a:t>• 製造 (台/中越 OEM 廠)：原料 + 人工 + 模具攤提</a:t>
            </a:r>
          </a:p>
          <a:p>
            <a:pPr algn="l"/>
            <a:r>
              <a:rPr sz="800" b="0">
                <a:solidFill>
                  <a:srgbClr val="4A4A4A"/>
                </a:solidFill>
                <a:latin typeface="Microsoft YaHei"/>
              </a:rPr>
              <a:t>• Amazon 平台費 + 廣告費 (PPC/DSP) — 占銷售 15-25%</a:t>
            </a:r>
          </a:p>
          <a:p>
            <a:pPr algn="l"/>
            <a:r>
              <a:rPr sz="800" b="0">
                <a:solidFill>
                  <a:srgbClr val="4A4A4A"/>
                </a:solidFill>
                <a:latin typeface="Microsoft YaHei"/>
              </a:rPr>
              <a:t>• 跨境物流 + 海關 + 倉儲 (FBA / 樂天倉)</a:t>
            </a:r>
          </a:p>
          <a:p>
            <a:pPr algn="l"/>
            <a:r>
              <a:rPr sz="800" b="0">
                <a:solidFill>
                  <a:srgbClr val="4A4A4A"/>
                </a:solidFill>
                <a:latin typeface="Microsoft YaHei"/>
              </a:rPr>
              <a:t>• R&amp;D + 雙語在地化 + 募資代操費用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129784" y="3639312"/>
            <a:ext cx="5769864" cy="1234440"/>
          </a:xfrm>
          <a:prstGeom prst="rect">
            <a:avLst/>
          </a:prstGeom>
          <a:solidFill>
            <a:srgbClr val="F5F2EC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129784" y="3639312"/>
            <a:ext cx="5769864" cy="292608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202936" y="3666744"/>
            <a:ext cx="56235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/>
              </a:rPr>
              <a:t>⑨ 收益流 Revenue Streams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75504" y="3968496"/>
            <a:ext cx="5678424" cy="8686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>
            <a:spAutoFit/>
          </a:bodyPr>
          <a:lstStyle/>
          <a:p>
            <a:pPr algn="l"/>
            <a:r>
              <a:rPr sz="800" b="0">
                <a:solidFill>
                  <a:srgbClr val="4A4A4A"/>
                </a:solidFill>
                <a:latin typeface="Microsoft YaHei"/>
              </a:rPr>
              <a:t>• 雙引擎：OBM (URBANER) 品牌銷售 (主) + OEM 代工 (現金流)</a:t>
            </a:r>
          </a:p>
          <a:p>
            <a:pPr algn="l"/>
            <a:r>
              <a:rPr sz="800" b="0">
                <a:solidFill>
                  <a:srgbClr val="4A4A4A"/>
                </a:solidFill>
                <a:latin typeface="Microsoft YaHei"/>
              </a:rPr>
              <a:t>• 美國 Amazon 銷售 (USD)、日本 Amazon + 樂天 (JPY)</a:t>
            </a:r>
          </a:p>
          <a:p>
            <a:pPr algn="l"/>
            <a:r>
              <a:rPr sz="800" b="0">
                <a:solidFill>
                  <a:srgbClr val="4A4A4A"/>
                </a:solidFill>
                <a:latin typeface="Microsoft YaHei"/>
              </a:rPr>
              <a:t>• 替換刀頭/耗材後續銷售 (recurring)</a:t>
            </a:r>
          </a:p>
          <a:p>
            <a:pPr algn="l"/>
            <a:r>
              <a:rPr sz="800" b="0">
                <a:solidFill>
                  <a:srgbClr val="4A4A4A"/>
                </a:solidFill>
                <a:latin typeface="Microsoft YaHei"/>
              </a:rPr>
              <a:t>• 募資專案 (高曝光 + 預售現金)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653796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4A4A4A"/>
                </a:solidFill>
                <a:latin typeface="Microsoft YaHei"/>
              </a:rPr>
              <a:t>URBANER × FourSight Lab  |  5/18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整體 SWOT — 與 Panasonic / Braun / Wahl / Manscaped 對比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C99A3B"/>
                </a:solidFill>
                <a:latin typeface="Microsoft YaHei"/>
              </a:rPr>
              <a:t>已剃除『競爭者也有』的項目 (IPX7/USB-C/多附件等共通標配不列入 S/W)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"/>
            <a:ext cx="12191695" cy="45720"/>
          </a:xfrm>
          <a:prstGeom prst="rect">
            <a:avLst/>
          </a:prstGeom>
          <a:solidFill>
            <a:srgbClr val="C9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960120"/>
            <a:ext cx="585216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960120"/>
            <a:ext cx="5852160" cy="329184"/>
          </a:xfrm>
          <a:prstGeom prst="rect">
            <a:avLst/>
          </a:prstGeom>
          <a:solidFill>
            <a:srgbClr val="3B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996696"/>
            <a:ext cx="566928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S — 優勢 (vs 上述競爭者)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1344168"/>
            <a:ext cx="5705856" cy="21488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>
            <a:spAutoFit/>
          </a:bodyPr>
          <a:lstStyle/>
          <a:p>
            <a:pPr algn="l"/>
            <a:r>
              <a:rPr sz="1000" b="1">
                <a:solidFill>
                  <a:srgbClr val="4A4A4A"/>
                </a:solidFill>
                <a:latin typeface="Microsoft YaHei"/>
              </a:rPr>
              <a:t>S1  47 年 OEM 製造職人能力</a:t>
            </a:r>
          </a:p>
          <a:p>
            <a:pPr algn="l"/>
            <a:r>
              <a:rPr sz="850" b="0">
                <a:solidFill>
                  <a:srgbClr val="4A4A4A"/>
                </a:solidFill>
                <a:latin typeface="Microsoft YaHei"/>
              </a:rPr>
              <a:t>    替 Panasonic 等代工累積，新進品牌(ANGFAN, Valano)無此底蘊</a:t>
            </a:r>
          </a:p>
          <a:p>
            <a:pPr algn="l"/>
            <a:r>
              <a:rPr sz="1000" b="1">
                <a:solidFill>
                  <a:srgbClr val="4A4A4A"/>
                </a:solidFill>
                <a:latin typeface="Microsoft YaHei"/>
              </a:rPr>
              <a:t>S2  日本樂天直營店資格</a:t>
            </a:r>
          </a:p>
          <a:p>
            <a:pPr algn="l"/>
            <a:r>
              <a:rPr sz="850" b="0">
                <a:solidFill>
                  <a:srgbClr val="4A4A4A"/>
                </a:solidFill>
                <a:latin typeface="Microsoft YaHei"/>
              </a:rPr>
              <a:t>    台灣廠商稀缺資源；多數 Wahl/Andis/Conair 沒有</a:t>
            </a:r>
          </a:p>
          <a:p>
            <a:pPr algn="l"/>
            <a:r>
              <a:rPr sz="1000" b="1">
                <a:solidFill>
                  <a:srgbClr val="4A4A4A"/>
                </a:solidFill>
                <a:latin typeface="Microsoft YaHei"/>
              </a:rPr>
              <a:t>S3  US/JP 雙市場原生 Listing 雙語經營</a:t>
            </a:r>
          </a:p>
          <a:p>
            <a:pPr algn="l"/>
            <a:r>
              <a:rPr sz="850" b="0">
                <a:solidFill>
                  <a:srgbClr val="4A4A4A"/>
                </a:solidFill>
                <a:latin typeface="Microsoft YaHei"/>
              </a:rPr>
              <a:t>    Manscaped 主力 US；皇家/Maxell IZUMI 主力 JP；URBANER 雙線並進</a:t>
            </a:r>
          </a:p>
          <a:p>
            <a:pPr algn="l"/>
            <a:r>
              <a:rPr sz="1000" b="1">
                <a:solidFill>
                  <a:srgbClr val="4A4A4A"/>
                </a:solidFill>
                <a:latin typeface="Microsoft YaHei"/>
              </a:rPr>
              <a:t>S4  Beard + Nose/Ear 雙旗艦 Hero SKU 已成形</a:t>
            </a:r>
          </a:p>
          <a:p>
            <a:pPr algn="l"/>
            <a:r>
              <a:rPr sz="850" b="0">
                <a:solidFill>
                  <a:srgbClr val="4A4A4A"/>
                </a:solidFill>
                <a:latin typeface="Microsoft YaHei"/>
              </a:rPr>
              <a:t>    11,523 則自有評論累積為 R&amp;D 資產</a:t>
            </a:r>
          </a:p>
          <a:p>
            <a:pPr algn="l"/>
            <a:r>
              <a:rPr sz="1000" b="1">
                <a:solidFill>
                  <a:srgbClr val="4A4A4A"/>
                </a:solidFill>
                <a:latin typeface="Microsoft YaHei"/>
              </a:rPr>
              <a:t>S5  OBM + OEM 雙引擎商模降低風險</a:t>
            </a:r>
          </a:p>
          <a:p>
            <a:pPr algn="l"/>
            <a:r>
              <a:rPr sz="850" b="0">
                <a:solidFill>
                  <a:srgbClr val="4A4A4A"/>
                </a:solidFill>
                <a:latin typeface="Microsoft YaHei"/>
              </a:rPr>
              <a:t>    純品牌如 Manscaped 無 OEM 緩衝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45352" y="960120"/>
            <a:ext cx="585216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45352" y="960120"/>
            <a:ext cx="5852160" cy="329184"/>
          </a:xfrm>
          <a:prstGeom prst="rect">
            <a:avLst/>
          </a:prstGeom>
          <a:solidFill>
            <a:srgbClr val="B8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36792" y="996696"/>
            <a:ext cx="566928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W — 劣勢 (vs 上述競爭者)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18504" y="1344168"/>
            <a:ext cx="5705856" cy="21488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>
            <a:spAutoFit/>
          </a:bodyPr>
          <a:lstStyle/>
          <a:p>
            <a:pPr algn="l"/>
            <a:r>
              <a:rPr sz="1000" b="1">
                <a:solidFill>
                  <a:srgbClr val="4A4A4A"/>
                </a:solidFill>
                <a:latin typeface="Microsoft YaHei"/>
              </a:rPr>
              <a:t>W1  品牌知名度顯著低於 Panasonic / Braun / Wahl</a:t>
            </a:r>
          </a:p>
          <a:p>
            <a:pPr algn="l"/>
            <a:r>
              <a:rPr sz="850" b="0">
                <a:solidFill>
                  <a:srgbClr val="4A4A4A"/>
                </a:solidFill>
                <a:latin typeface="Microsoft YaHei"/>
              </a:rPr>
              <a:t>    JP 知恵袋/価格.com 幾乎無 URBANER 討論</a:t>
            </a:r>
          </a:p>
          <a:p>
            <a:pPr algn="l"/>
            <a:r>
              <a:rPr sz="1000" b="1">
                <a:solidFill>
                  <a:srgbClr val="4A4A4A"/>
                </a:solidFill>
                <a:latin typeface="Microsoft YaHei"/>
              </a:rPr>
              <a:t>W2  缺乏專家/權威背書</a:t>
            </a:r>
          </a:p>
          <a:p>
            <a:pPr algn="l"/>
            <a:r>
              <a:rPr sz="850" b="0">
                <a:solidFill>
                  <a:srgbClr val="4A4A4A"/>
                </a:solidFill>
                <a:latin typeface="Microsoft YaHei"/>
              </a:rPr>
              <a:t>    Panasonic『美容クリニック推奨』、ER-WF41 醫療指定 — URBANER 無</a:t>
            </a:r>
          </a:p>
          <a:p>
            <a:pPr algn="l"/>
            <a:r>
              <a:rPr sz="1000" b="1">
                <a:solidFill>
                  <a:srgbClr val="4A4A4A"/>
                </a:solidFill>
                <a:latin typeface="Microsoft YaHei"/>
              </a:rPr>
              <a:t>W3  Foil Shaver / Pet / Body Groomer 品類薄弱</a:t>
            </a:r>
          </a:p>
          <a:p>
            <a:pPr algn="l"/>
            <a:r>
              <a:rPr sz="850" b="0">
                <a:solidFill>
                  <a:srgbClr val="4A4A4A"/>
                </a:solidFill>
                <a:latin typeface="Microsoft YaHei"/>
              </a:rPr>
              <a:t>    Beard/Nose 過度集中；Braun-9、Manscaped 5.0、Casfuy 各有壓倒地位</a:t>
            </a:r>
          </a:p>
          <a:p>
            <a:pPr algn="l"/>
            <a:r>
              <a:rPr sz="1000" b="1">
                <a:solidFill>
                  <a:srgbClr val="4A4A4A"/>
                </a:solidFill>
                <a:latin typeface="Microsoft YaHei"/>
              </a:rPr>
              <a:t>W4  社群/Reddit/マイベスト 排名缺席</a:t>
            </a:r>
          </a:p>
          <a:p>
            <a:pPr algn="l"/>
            <a:r>
              <a:rPr sz="850" b="0">
                <a:solidFill>
                  <a:srgbClr val="4A4A4A"/>
                </a:solidFill>
                <a:latin typeface="Microsoft YaHei"/>
              </a:rPr>
              <a:t>    競品多在 Reddit/Kakaku.com 高頻被推薦</a:t>
            </a:r>
          </a:p>
          <a:p>
            <a:pPr algn="l"/>
            <a:r>
              <a:rPr sz="1000" b="1">
                <a:solidFill>
                  <a:srgbClr val="4A4A4A"/>
                </a:solidFill>
                <a:latin typeface="Microsoft YaHei"/>
              </a:rPr>
              <a:t>W5  創新節奏較慢</a:t>
            </a:r>
          </a:p>
          <a:p>
            <a:pPr algn="l"/>
            <a:r>
              <a:rPr sz="850" b="0">
                <a:solidFill>
                  <a:srgbClr val="4A4A4A"/>
                </a:solidFill>
                <a:latin typeface="Microsoft YaHei"/>
              </a:rPr>
              <a:t>    中國新進(ANGFAN, Valano)用『高速無刷馬達 + LCD』快速跑出市佔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657600"/>
            <a:ext cx="585216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3657600"/>
            <a:ext cx="5852160" cy="329184"/>
          </a:xfrm>
          <a:prstGeom prst="rect">
            <a:avLst/>
          </a:prstGeom>
          <a:solidFill>
            <a:srgbClr val="356E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3694176"/>
            <a:ext cx="566928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O — 機會 (看得到 ✓ 吃得到 ✓ 對手難以同樣掌握)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" y="4041648"/>
            <a:ext cx="5705856" cy="21488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>
            <a:spAutoFit/>
          </a:bodyPr>
          <a:lstStyle/>
          <a:p>
            <a:pPr algn="l"/>
            <a:r>
              <a:rPr sz="1000" b="1">
                <a:solidFill>
                  <a:srgbClr val="4A4A4A"/>
                </a:solidFill>
                <a:latin typeface="Microsoft YaHei"/>
              </a:rPr>
              <a:t>O1  『靜音 (低分貝)』全品類大趨勢 (寵物/嬰兒/男士)</a:t>
            </a:r>
          </a:p>
          <a:p>
            <a:pPr algn="l"/>
            <a:r>
              <a:rPr sz="850" b="0">
                <a:solidFill>
                  <a:srgbClr val="4A4A4A"/>
                </a:solidFill>
                <a:latin typeface="Microsoft YaHei"/>
              </a:rPr>
              <a:t>    URBANER 可用 dB 數字化 + 馬達技術切入</a:t>
            </a:r>
          </a:p>
          <a:p>
            <a:pPr algn="l"/>
            <a:r>
              <a:rPr sz="1000" b="1">
                <a:solidFill>
                  <a:srgbClr val="4A4A4A"/>
                </a:solidFill>
                <a:latin typeface="Microsoft YaHei"/>
              </a:rPr>
              <a:t>O2  美國 Q2(父親節) + Q4(聖誕) 送禮季</a:t>
            </a:r>
          </a:p>
          <a:p>
            <a:pPr algn="l"/>
            <a:r>
              <a:rPr sz="850" b="0">
                <a:solidFill>
                  <a:srgbClr val="4A4A4A"/>
                </a:solidFill>
                <a:latin typeface="Microsoft YaHei"/>
              </a:rPr>
              <a:t>    gift_suitability_men ANOVA F=1299 為最強區隔屬性</a:t>
            </a:r>
          </a:p>
          <a:p>
            <a:pPr algn="l"/>
            <a:r>
              <a:rPr sz="1000" b="1">
                <a:solidFill>
                  <a:srgbClr val="4A4A4A"/>
                </a:solidFill>
                <a:latin typeface="Microsoft YaHei"/>
              </a:rPr>
              <a:t>O3  日本父の日 + のし禮品文化</a:t>
            </a:r>
          </a:p>
          <a:p>
            <a:pPr algn="l"/>
            <a:r>
              <a:rPr sz="850" b="0">
                <a:solidFill>
                  <a:srgbClr val="4A4A4A"/>
                </a:solidFill>
                <a:latin typeface="Microsoft YaHei"/>
              </a:rPr>
              <a:t>    樂天直營有資格做『正規品 + 1年保証』訴求</a:t>
            </a:r>
          </a:p>
          <a:p>
            <a:pPr algn="l"/>
            <a:r>
              <a:rPr sz="1000" b="1">
                <a:solidFill>
                  <a:srgbClr val="4A4A4A"/>
                </a:solidFill>
                <a:latin typeface="Microsoft YaHei"/>
              </a:rPr>
              <a:t>O4  消費者搜尋『Manscaped 替代品』意圖高</a:t>
            </a:r>
          </a:p>
          <a:p>
            <a:pPr algn="l"/>
            <a:r>
              <a:rPr sz="850" b="0">
                <a:solidFill>
                  <a:srgbClr val="4A4A4A"/>
                </a:solidFill>
                <a:latin typeface="Microsoft YaHei"/>
              </a:rPr>
              <a:t>    Reddit 用戶主動找平價代替品</a:t>
            </a:r>
          </a:p>
          <a:p>
            <a:pPr algn="l"/>
            <a:r>
              <a:rPr sz="1000" b="1">
                <a:solidFill>
                  <a:srgbClr val="4A4A4A"/>
                </a:solidFill>
                <a:latin typeface="Microsoft YaHei"/>
              </a:rPr>
              <a:t>O5  跨境電商基礎設施成熟 (Amazon Global, FBA)</a:t>
            </a:r>
          </a:p>
          <a:p>
            <a:pPr algn="l"/>
            <a:r>
              <a:rPr sz="850" b="0">
                <a:solidFill>
                  <a:srgbClr val="4A4A4A"/>
                </a:solidFill>
                <a:latin typeface="Microsoft YaHei"/>
              </a:rPr>
              <a:t>    台灣中小企業可低成本進入兩市場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45352" y="3657600"/>
            <a:ext cx="585216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45352" y="3657600"/>
            <a:ext cx="5852160" cy="329184"/>
          </a:xfrm>
          <a:prstGeom prst="rect">
            <a:avLst/>
          </a:prstGeom>
          <a:solidFill>
            <a:srgbClr val="D48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3694176"/>
            <a:ext cx="566928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T — 威脅 (立即且迫切)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18504" y="4041648"/>
            <a:ext cx="5705856" cy="21488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>
            <a:spAutoFit/>
          </a:bodyPr>
          <a:lstStyle/>
          <a:p>
            <a:pPr algn="l"/>
            <a:r>
              <a:rPr sz="1000" b="1">
                <a:solidFill>
                  <a:srgbClr val="4A4A4A"/>
                </a:solidFill>
                <a:latin typeface="Microsoft YaHei"/>
              </a:rPr>
              <a:t>T1  中國新進品牌『高 spec/低價』夾擊</a:t>
            </a:r>
          </a:p>
          <a:p>
            <a:pPr algn="l"/>
            <a:r>
              <a:rPr sz="850" b="0">
                <a:solidFill>
                  <a:srgbClr val="4A4A4A"/>
                </a:solidFill>
                <a:latin typeface="Microsoft YaHei"/>
              </a:rPr>
              <a:t>    ANGFAN, Valano, INVJOY 在 US 已侵蝕 Wahl 市佔</a:t>
            </a:r>
          </a:p>
          <a:p>
            <a:pPr algn="l"/>
            <a:r>
              <a:rPr sz="1000" b="1">
                <a:solidFill>
                  <a:srgbClr val="4A4A4A"/>
                </a:solidFill>
                <a:latin typeface="Microsoft YaHei"/>
              </a:rPr>
              <a:t>T2  Panasonic / Braun 行銷預算碾壓</a:t>
            </a:r>
          </a:p>
          <a:p>
            <a:pPr algn="l"/>
            <a:r>
              <a:rPr sz="850" b="0">
                <a:solidFill>
                  <a:srgbClr val="4A4A4A"/>
                </a:solidFill>
                <a:latin typeface="Microsoft YaHei"/>
              </a:rPr>
              <a:t>    JP 家電量販店通路 + 廣告投放遠超 URBANER</a:t>
            </a:r>
          </a:p>
          <a:p>
            <a:pPr algn="l"/>
            <a:r>
              <a:rPr sz="1000" b="1">
                <a:solidFill>
                  <a:srgbClr val="4A4A4A"/>
                </a:solidFill>
                <a:latin typeface="Microsoft YaHei"/>
              </a:rPr>
              <a:t>T3  Amazon 平台規則 + 廣告費上漲</a:t>
            </a:r>
          </a:p>
          <a:p>
            <a:pPr algn="l"/>
            <a:r>
              <a:rPr sz="850" b="0">
                <a:solidFill>
                  <a:srgbClr val="4A4A4A"/>
                </a:solidFill>
                <a:latin typeface="Microsoft YaHei"/>
              </a:rPr>
              <a:t>    PPC CPC 持續上升、A9 演算法變動風險</a:t>
            </a:r>
          </a:p>
          <a:p>
            <a:pPr algn="l"/>
            <a:r>
              <a:rPr sz="1000" b="1">
                <a:solidFill>
                  <a:srgbClr val="4A4A4A"/>
                </a:solidFill>
                <a:latin typeface="Microsoft YaHei"/>
              </a:rPr>
              <a:t>T4  匯率波動 (USD/JPY)</a:t>
            </a:r>
          </a:p>
          <a:p>
            <a:pPr algn="l"/>
            <a:r>
              <a:rPr sz="850" b="0">
                <a:solidFill>
                  <a:srgbClr val="4A4A4A"/>
                </a:solidFill>
                <a:latin typeface="Microsoft YaHei"/>
              </a:rPr>
              <a:t>    日圓貶值有利日本銷售但壓縮人民幣/台幣換匯利潤</a:t>
            </a:r>
          </a:p>
          <a:p>
            <a:pPr algn="l"/>
            <a:r>
              <a:rPr sz="1000" b="1">
                <a:solidFill>
                  <a:srgbClr val="4A4A4A"/>
                </a:solidFill>
                <a:latin typeface="Microsoft YaHei"/>
              </a:rPr>
              <a:t>T5  山寨 / 跨境平行輸入侵蝕</a:t>
            </a:r>
          </a:p>
          <a:p>
            <a:pPr algn="l"/>
            <a:r>
              <a:rPr sz="850" b="0">
                <a:solidFill>
                  <a:srgbClr val="4A4A4A"/>
                </a:solidFill>
                <a:latin typeface="Microsoft YaHei"/>
              </a:rPr>
              <a:t>    Amazon 假貨檢舉週期長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53796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4A4A4A"/>
                </a:solidFill>
                <a:latin typeface="Microsoft YaHei"/>
              </a:rPr>
              <a:t>URBANER × FourSight Lab  |  6/18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整體 SWOT 策略碰撞 — TOWS 矩陣 (每條策略需標明 Sx×Oy 來源)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C99A3B"/>
                </a:solidFill>
                <a:latin typeface="Microsoft YaHei"/>
              </a:rPr>
              <a:t>整體態勢：S&gt;W (有獨特資源) × O&gt;T (機會大於威脅) → 主象限：SO 乘勝追擊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"/>
            <a:ext cx="12191695" cy="45720"/>
          </a:xfrm>
          <a:prstGeom prst="rect">
            <a:avLst/>
          </a:prstGeom>
          <a:solidFill>
            <a:srgbClr val="C9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960120"/>
            <a:ext cx="585216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960120"/>
            <a:ext cx="5852160" cy="329184"/>
          </a:xfrm>
          <a:prstGeom prst="rect">
            <a:avLst/>
          </a:prstGeom>
          <a:solidFill>
            <a:srgbClr val="3B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996696"/>
            <a:ext cx="566928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SO 乘勝追擊 (主象限) — 攻擊/維持領先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1344168"/>
            <a:ext cx="5705856" cy="21488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>
            <a:spAutoFit/>
          </a:bodyPr>
          <a:lstStyle/>
          <a:p>
            <a:pPr algn="l"/>
            <a:r>
              <a:rPr sz="950" b="1">
                <a:solidFill>
                  <a:srgbClr val="4A4A4A"/>
                </a:solidFill>
                <a:latin typeface="Microsoft YaHei"/>
              </a:rPr>
              <a:t>[S1×O3] 以『47年代工歷練的日系工藝』結合 樂天直営正規品 +</a:t>
            </a:r>
          </a:p>
          <a:p>
            <a:pPr algn="l"/>
            <a:r>
              <a:rPr sz="850" b="0">
                <a:solidFill>
                  <a:srgbClr val="4A4A4A"/>
                </a:solidFill>
                <a:latin typeface="Microsoft YaHei"/>
              </a:rPr>
              <a:t>        1年保証 + のし対応，搶 JP 父の日禮品檔期</a:t>
            </a:r>
          </a:p>
          <a:p>
            <a:pPr algn="l"/>
            <a:r>
              <a:rPr sz="950" b="1">
                <a:solidFill>
                  <a:srgbClr val="4A4A4A"/>
                </a:solidFill>
                <a:latin typeface="Microsoft YaHei"/>
              </a:rPr>
              <a:t>[S4×O2] 集中 Hero SKU B0FL267TCG，做 Father's Day 禮盒版</a:t>
            </a:r>
          </a:p>
          <a:p>
            <a:pPr algn="l"/>
            <a:r>
              <a:rPr sz="850" b="0">
                <a:solidFill>
                  <a:srgbClr val="4A4A4A"/>
                </a:solidFill>
                <a:latin typeface="Microsoft YaHei"/>
              </a:rPr>
              <a:t>        (含禮品袋 + 賀卡) 直攻 US Q2 送禮潮</a:t>
            </a:r>
          </a:p>
          <a:p>
            <a:pPr algn="l"/>
            <a:r>
              <a:rPr sz="950" b="1">
                <a:solidFill>
                  <a:srgbClr val="4A4A4A"/>
                </a:solidFill>
                <a:latin typeface="Microsoft YaHei"/>
              </a:rPr>
              <a:t>[S2×O3] 樂天直營資格 + 1年保証 + 跨境官網結合，做 JP 信任</a:t>
            </a:r>
          </a:p>
          <a:p>
            <a:pPr algn="l"/>
            <a:r>
              <a:rPr sz="850" b="0">
                <a:solidFill>
                  <a:srgbClr val="4A4A4A"/>
                </a:solidFill>
                <a:latin typeface="Microsoft YaHei"/>
              </a:rPr>
              <a:t>        雙保險 (對抗 Panasonic 通路深度)</a:t>
            </a:r>
          </a:p>
          <a:p>
            <a:pPr algn="l"/>
            <a:r>
              <a:rPr sz="950" b="1">
                <a:solidFill>
                  <a:srgbClr val="4A4A4A"/>
                </a:solidFill>
                <a:latin typeface="Microsoft YaHei"/>
              </a:rPr>
              <a:t>[S3×O5] 雙市場 Listing 同步迭代、評論回饋環跑得比競品快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45352" y="960120"/>
            <a:ext cx="585216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45352" y="960120"/>
            <a:ext cx="5852160" cy="329184"/>
          </a:xfrm>
          <a:prstGeom prst="rect">
            <a:avLst/>
          </a:prstGeom>
          <a:solidFill>
            <a:srgbClr val="D48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36792" y="996696"/>
            <a:ext cx="566928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ST 守株待兔 — 防禦/移轉威脅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18504" y="1344168"/>
            <a:ext cx="5705856" cy="21488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>
            <a:spAutoFit/>
          </a:bodyPr>
          <a:lstStyle/>
          <a:p>
            <a:pPr algn="l"/>
            <a:r>
              <a:rPr sz="950" b="1">
                <a:solidFill>
                  <a:srgbClr val="4A4A4A"/>
                </a:solidFill>
                <a:latin typeface="Microsoft YaHei"/>
              </a:rPr>
              <a:t>[S5×T1] OEM 引擎吸納成本壓力、OBM 維持品質與毛利，</a:t>
            </a:r>
          </a:p>
          <a:p>
            <a:pPr algn="l"/>
            <a:r>
              <a:rPr sz="850" b="0">
                <a:solidFill>
                  <a:srgbClr val="4A4A4A"/>
                </a:solidFill>
                <a:latin typeface="Microsoft YaHei"/>
              </a:rPr>
              <a:t>        對中國低價競品做差異化區隔 (Quality &gt; Price)</a:t>
            </a:r>
          </a:p>
          <a:p>
            <a:pPr algn="l"/>
            <a:r>
              <a:rPr sz="950" b="1">
                <a:solidFill>
                  <a:srgbClr val="4A4A4A"/>
                </a:solidFill>
                <a:latin typeface="Microsoft YaHei"/>
              </a:rPr>
              <a:t>[S1×T2] 把『47 年代工歐美日品牌』做成品牌故事影片，</a:t>
            </a:r>
          </a:p>
          <a:p>
            <a:pPr algn="l"/>
            <a:r>
              <a:rPr sz="850" b="0">
                <a:solidFill>
                  <a:srgbClr val="4A4A4A"/>
                </a:solidFill>
                <a:latin typeface="Microsoft YaHei"/>
              </a:rPr>
              <a:t>        對抗 Panasonic 廣告聲量 (用故事 vs 預算)</a:t>
            </a:r>
          </a:p>
          <a:p>
            <a:pPr algn="l"/>
            <a:r>
              <a:rPr sz="950" b="1">
                <a:solidFill>
                  <a:srgbClr val="4A4A4A"/>
                </a:solidFill>
                <a:latin typeface="Microsoft YaHei"/>
              </a:rPr>
              <a:t>[S4×T3] 集中廣告預算於 Hero SKU 而非廣撒，提升 ROAS</a:t>
            </a:r>
          </a:p>
          <a:p>
            <a:pPr algn="l"/>
            <a:r>
              <a:rPr sz="850" b="0">
                <a:solidFill>
                  <a:srgbClr val="4A4A4A"/>
                </a:solidFill>
                <a:latin typeface="Microsoft YaHei"/>
              </a:rPr>
              <a:t>        以對抗 Amazon CPC 上升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657600"/>
            <a:ext cx="585216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3657600"/>
            <a:ext cx="5852160" cy="329184"/>
          </a:xfrm>
          <a:prstGeom prst="rect">
            <a:avLst/>
          </a:prstGeom>
          <a:solidFill>
            <a:srgbClr val="356E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3694176"/>
            <a:ext cx="566928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WO 策略聯盟 — 補強弱勢、抓住機會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" y="4041648"/>
            <a:ext cx="5705856" cy="21488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>
            <a:spAutoFit/>
          </a:bodyPr>
          <a:lstStyle/>
          <a:p>
            <a:pPr algn="l"/>
            <a:r>
              <a:rPr sz="950" b="1">
                <a:solidFill>
                  <a:srgbClr val="4A4A4A"/>
                </a:solidFill>
                <a:latin typeface="Microsoft YaHei"/>
              </a:rPr>
              <a:t>[W2×O1] 與獸醫/理髮師/美容診所合作做『専門家監修』背書，</a:t>
            </a:r>
          </a:p>
          <a:p>
            <a:pPr algn="l"/>
            <a:r>
              <a:rPr sz="850" b="0">
                <a:solidFill>
                  <a:srgbClr val="4A4A4A"/>
                </a:solidFill>
                <a:latin typeface="Microsoft YaHei"/>
              </a:rPr>
              <a:t>        切入靜音 (dB 數值化) 寵物/嬰兒新品類</a:t>
            </a:r>
          </a:p>
          <a:p>
            <a:pPr algn="l"/>
            <a:r>
              <a:rPr sz="950" b="1">
                <a:solidFill>
                  <a:srgbClr val="4A4A4A"/>
                </a:solidFill>
                <a:latin typeface="Microsoft YaHei"/>
              </a:rPr>
              <a:t>[W4×O4] 主動投放 Reddit / マイベスト / 価格.com 評測，</a:t>
            </a:r>
          </a:p>
          <a:p>
            <a:pPr algn="l"/>
            <a:r>
              <a:rPr sz="850" b="0">
                <a:solidFill>
                  <a:srgbClr val="4A4A4A"/>
                </a:solidFill>
                <a:latin typeface="Microsoft YaHei"/>
              </a:rPr>
              <a:t>        卡『Manscaped 平價替代』『Wahl 替代品』搜尋意圖</a:t>
            </a:r>
          </a:p>
          <a:p>
            <a:pPr algn="l"/>
            <a:r>
              <a:rPr sz="950" b="1">
                <a:solidFill>
                  <a:srgbClr val="4A4A4A"/>
                </a:solidFill>
                <a:latin typeface="Microsoft YaHei"/>
              </a:rPr>
              <a:t>[W1×O5] 用 Amazon Choice / Best Seller 徽章 + 評論積累</a:t>
            </a:r>
          </a:p>
          <a:p>
            <a:pPr algn="l"/>
            <a:r>
              <a:rPr sz="850" b="0">
                <a:solidFill>
                  <a:srgbClr val="4A4A4A"/>
                </a:solidFill>
                <a:latin typeface="Microsoft YaHei"/>
              </a:rPr>
              <a:t>        逐步建立平台原生品牌力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45352" y="3657600"/>
            <a:ext cx="585216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45352" y="3657600"/>
            <a:ext cx="5852160" cy="329184"/>
          </a:xfrm>
          <a:prstGeom prst="rect">
            <a:avLst/>
          </a:prstGeom>
          <a:solidFill>
            <a:srgbClr val="B8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3694176"/>
            <a:ext cx="566928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WT 置之死地後生 — 退守/避險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18504" y="4041648"/>
            <a:ext cx="5705856" cy="21488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>
            <a:spAutoFit/>
          </a:bodyPr>
          <a:lstStyle/>
          <a:p>
            <a:pPr algn="l"/>
            <a:r>
              <a:rPr sz="950" b="1">
                <a:solidFill>
                  <a:srgbClr val="4A4A4A"/>
                </a:solidFill>
                <a:latin typeface="Microsoft YaHei"/>
              </a:rPr>
              <a:t>[W3×T1] 暫緩 Foil Shaver / Body Groomer 自有品牌投入，</a:t>
            </a:r>
          </a:p>
          <a:p>
            <a:pPr algn="l"/>
            <a:r>
              <a:rPr sz="850" b="0">
                <a:solidFill>
                  <a:srgbClr val="4A4A4A"/>
                </a:solidFill>
                <a:latin typeface="Microsoft YaHei"/>
              </a:rPr>
              <a:t>        改以 OEM 代工形式維持產線稼動率</a:t>
            </a:r>
          </a:p>
          <a:p>
            <a:pPr algn="l"/>
            <a:r>
              <a:rPr sz="950" b="1">
                <a:solidFill>
                  <a:srgbClr val="4A4A4A"/>
                </a:solidFill>
                <a:latin typeface="Microsoft YaHei"/>
              </a:rPr>
              <a:t>[W5×T1] 縮短新品 NPI 週期 (從 18 個月→ 12 個月)，</a:t>
            </a:r>
          </a:p>
          <a:p>
            <a:pPr algn="l"/>
            <a:r>
              <a:rPr sz="850" b="0">
                <a:solidFill>
                  <a:srgbClr val="4A4A4A"/>
                </a:solidFill>
                <a:latin typeface="Microsoft YaHei"/>
              </a:rPr>
              <a:t>        每年至少 2 款新 Hero SKU 對抗中國新進</a:t>
            </a:r>
          </a:p>
          <a:p>
            <a:pPr algn="l"/>
            <a:r>
              <a:rPr sz="950" b="1">
                <a:solidFill>
                  <a:srgbClr val="4A4A4A"/>
                </a:solidFill>
                <a:latin typeface="Microsoft YaHei"/>
              </a:rPr>
              <a:t>[W4×T5] 強化『URBANER 直営正規品』水印 + 序號系統，</a:t>
            </a:r>
          </a:p>
          <a:p>
            <a:pPr algn="l"/>
            <a:r>
              <a:rPr sz="850" b="0">
                <a:solidFill>
                  <a:srgbClr val="4A4A4A"/>
                </a:solidFill>
                <a:latin typeface="Microsoft YaHei"/>
              </a:rPr>
              <a:t>        對抗山寨平行輸入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53796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4A4A4A"/>
                </a:solidFill>
                <a:latin typeface="Microsoft YaHei"/>
              </a:rPr>
              <a:t>URBANER × FourSight Lab  |  7/18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整體 — 策略定調卡 (Strategy Card)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C99A3B"/>
                </a:solidFill>
                <a:latin typeface="Microsoft YaHei"/>
              </a:rPr>
              <a:t>從 13 條候選策略中選定 1 條主策略 + 支援/暫緩/放棄清單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"/>
            <a:ext cx="12191695" cy="45720"/>
          </a:xfrm>
          <a:prstGeom prst="rect">
            <a:avLst/>
          </a:prstGeom>
          <a:solidFill>
            <a:srgbClr val="C9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914400"/>
            <a:ext cx="5852160" cy="5486400"/>
          </a:xfrm>
          <a:prstGeom prst="rect">
            <a:avLst/>
          </a:prstGeom>
          <a:solidFill>
            <a:srgbClr val="F5F2EC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005840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B2E4F"/>
                </a:solidFill>
                <a:latin typeface="Microsoft YaHei"/>
              </a:rPr>
              <a:t>候選策略總覽 (主象限 SO 評分)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5486400" cy="4937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>
            <a:spAutoFit/>
          </a:bodyPr>
          <a:lstStyle/>
          <a:p>
            <a:pPr algn="l"/>
            <a:r>
              <a:rPr sz="1050" b="1">
                <a:solidFill>
                  <a:srgbClr val="4A4A4A"/>
                </a:solidFill>
                <a:latin typeface="Microsoft YaHei"/>
              </a:rPr>
              <a:t>[S1×O3]  日系工藝 × 樂天直営 × 父の日禮品</a:t>
            </a:r>
          </a:p>
          <a:p>
            <a:pPr algn="l"/>
            <a:r>
              <a:rPr sz="900" b="0">
                <a:solidFill>
                  <a:srgbClr val="4A4A4A"/>
                </a:solidFill>
                <a:latin typeface="Microsoft YaHei"/>
              </a:rPr>
              <a:t>    可行性 3 / 影響力 3 / 時效性 3 = 9 分 ★主策略候選</a:t>
            </a:r>
          </a:p>
          <a:p>
            <a:pPr algn="l"/>
            <a:r>
              <a:rPr sz="500" b="0">
                <a:solidFill>
                  <a:srgbClr val="4A4A4A"/>
                </a:solidFill>
                <a:latin typeface="Microsoft YaHei"/>
              </a:rPr>
              <a:t/>
            </a:r>
          </a:p>
          <a:p>
            <a:pPr algn="l"/>
            <a:r>
              <a:rPr sz="1050" b="1">
                <a:solidFill>
                  <a:srgbClr val="4A4A4A"/>
                </a:solidFill>
                <a:latin typeface="Microsoft YaHei"/>
              </a:rPr>
              <a:t>[S4×O2]  Hero SKU 美國父親節禮盒版</a:t>
            </a:r>
          </a:p>
          <a:p>
            <a:pPr algn="l"/>
            <a:r>
              <a:rPr sz="900" b="0">
                <a:solidFill>
                  <a:srgbClr val="4A4A4A"/>
                </a:solidFill>
                <a:latin typeface="Microsoft YaHei"/>
              </a:rPr>
              <a:t>    可行性 3 / 影響力 2 / 時效性 3 = 8 分</a:t>
            </a:r>
          </a:p>
          <a:p>
            <a:pPr algn="l"/>
            <a:r>
              <a:rPr sz="500" b="0">
                <a:solidFill>
                  <a:srgbClr val="4A4A4A"/>
                </a:solidFill>
                <a:latin typeface="Microsoft YaHei"/>
              </a:rPr>
              <a:t/>
            </a:r>
          </a:p>
          <a:p>
            <a:pPr algn="l"/>
            <a:r>
              <a:rPr sz="1050" b="1">
                <a:solidFill>
                  <a:srgbClr val="4A4A4A"/>
                </a:solidFill>
                <a:latin typeface="Microsoft YaHei"/>
              </a:rPr>
              <a:t>[S2×O3]  樂天 1年保証 × 跨境官網信任雙保險</a:t>
            </a:r>
          </a:p>
          <a:p>
            <a:pPr algn="l"/>
            <a:r>
              <a:rPr sz="900" b="0">
                <a:solidFill>
                  <a:srgbClr val="4A4A4A"/>
                </a:solidFill>
                <a:latin typeface="Microsoft YaHei"/>
              </a:rPr>
              <a:t>    可行性 3 / 影響力 2 / 時效性 2 = 7 分</a:t>
            </a:r>
          </a:p>
          <a:p>
            <a:pPr algn="l"/>
            <a:r>
              <a:rPr sz="500" b="0">
                <a:solidFill>
                  <a:srgbClr val="4A4A4A"/>
                </a:solidFill>
                <a:latin typeface="Microsoft YaHei"/>
              </a:rPr>
              <a:t/>
            </a:r>
          </a:p>
          <a:p>
            <a:pPr algn="l"/>
            <a:r>
              <a:rPr sz="1050" b="1">
                <a:solidFill>
                  <a:srgbClr val="4A4A4A"/>
                </a:solidFill>
                <a:latin typeface="Microsoft YaHei"/>
              </a:rPr>
              <a:t>[S3×O5]  雙市場評論回饋環</a:t>
            </a:r>
          </a:p>
          <a:p>
            <a:pPr algn="l"/>
            <a:r>
              <a:rPr sz="900" b="0">
                <a:solidFill>
                  <a:srgbClr val="4A4A4A"/>
                </a:solidFill>
                <a:latin typeface="Microsoft YaHei"/>
              </a:rPr>
              <a:t>    可行性 2 / 影響力 2 / 時效性 2 = 6 分 (基礎建設)</a:t>
            </a:r>
          </a:p>
          <a:p>
            <a:pPr algn="l"/>
            <a:r>
              <a:rPr sz="500" b="0">
                <a:solidFill>
                  <a:srgbClr val="4A4A4A"/>
                </a:solidFill>
                <a:latin typeface="Microsoft YaHei"/>
              </a:rPr>
              <a:t/>
            </a:r>
          </a:p>
          <a:p>
            <a:pPr algn="l"/>
            <a:r>
              <a:rPr sz="1000" b="1">
                <a:solidFill>
                  <a:srgbClr val="4A4A4A"/>
                </a:solidFill>
                <a:latin typeface="Microsoft YaHei"/>
              </a:rPr>
              <a:t>評分維度說明</a:t>
            </a:r>
          </a:p>
          <a:p>
            <a:pPr algn="l"/>
            <a:r>
              <a:rPr sz="850" b="0">
                <a:solidFill>
                  <a:srgbClr val="4A4A4A"/>
                </a:solidFill>
                <a:latin typeface="Microsoft YaHei"/>
              </a:rPr>
              <a:t>• 可行性：現有資源能否啟動</a:t>
            </a:r>
          </a:p>
          <a:p>
            <a:pPr algn="l"/>
            <a:r>
              <a:rPr sz="850" b="0">
                <a:solidFill>
                  <a:srgbClr val="4A4A4A"/>
                </a:solidFill>
                <a:latin typeface="Microsoft YaHei"/>
              </a:rPr>
              <a:t>• 影響力：對競爭地位改變幅度</a:t>
            </a:r>
          </a:p>
          <a:p>
            <a:pPr algn="l"/>
            <a:r>
              <a:rPr sz="850" b="0">
                <a:solidFill>
                  <a:srgbClr val="4A4A4A"/>
                </a:solidFill>
                <a:latin typeface="Microsoft YaHei"/>
              </a:rPr>
              <a:t>• 時效性：機會/威脅窗口是否仍開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914400"/>
            <a:ext cx="5669280" cy="54864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914400"/>
            <a:ext cx="5669280" cy="365760"/>
          </a:xfrm>
          <a:prstGeom prst="rect">
            <a:avLst/>
          </a:prstGeom>
          <a:solidFill>
            <a:srgbClr val="C9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950976"/>
            <a:ext cx="5486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</a:rPr>
              <a:t>✓ 主策略 (整體最終選定)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417320"/>
            <a:ext cx="5486400" cy="4937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>
            <a:spAutoFit/>
          </a:bodyPr>
          <a:lstStyle/>
          <a:p>
            <a:pPr algn="l"/>
            <a:r>
              <a:rPr sz="1100" b="1">
                <a:solidFill>
                  <a:srgbClr val="4A4A4A"/>
                </a:solidFill>
                <a:latin typeface="Microsoft YaHei"/>
              </a:rPr>
              <a:t>來源：[S1×O3]  日系職人工藝 × 樂天 × 父の日禮品</a:t>
            </a:r>
          </a:p>
          <a:p>
            <a:pPr algn="l"/>
            <a:r>
              <a:rPr sz="400" b="0">
                <a:solidFill>
                  <a:srgbClr val="4A4A4A"/>
                </a:solidFill>
                <a:latin typeface="Microsoft YaHei"/>
              </a:rPr>
              <a:t/>
            </a:r>
          </a:p>
          <a:p>
            <a:pPr algn="l"/>
            <a:r>
              <a:rPr sz="1000" b="1">
                <a:solidFill>
                  <a:srgbClr val="4A4A4A"/>
                </a:solidFill>
                <a:latin typeface="Microsoft YaHei"/>
              </a:rPr>
              <a:t>策略描述：</a:t>
            </a:r>
          </a:p>
          <a:p>
            <a:pPr algn="l"/>
            <a:r>
              <a:rPr sz="950" b="0">
                <a:solidFill>
                  <a:srgbClr val="4A4A4A"/>
                </a:solidFill>
                <a:latin typeface="Microsoft YaHei"/>
              </a:rPr>
              <a:t>以『47 年代工歐美日大廠』為品牌故事核心，搭配</a:t>
            </a:r>
          </a:p>
          <a:p>
            <a:pPr algn="l"/>
            <a:r>
              <a:rPr sz="950" b="0">
                <a:solidFill>
                  <a:srgbClr val="4A4A4A"/>
                </a:solidFill>
                <a:latin typeface="Microsoft YaHei"/>
              </a:rPr>
              <a:t>樂天直營正規品 + 1 年保証 + のし禮盒，主攻日本</a:t>
            </a:r>
          </a:p>
          <a:p>
            <a:pPr algn="l"/>
            <a:r>
              <a:rPr sz="950" b="0">
                <a:solidFill>
                  <a:srgbClr val="4A4A4A"/>
                </a:solidFill>
                <a:latin typeface="Microsoft YaHei"/>
              </a:rPr>
              <a:t>父の日 (6 月) 與年末ギフト檔期；同步用『日系工藝』</a:t>
            </a:r>
          </a:p>
          <a:p>
            <a:pPr algn="l"/>
            <a:r>
              <a:rPr sz="950" b="0">
                <a:solidFill>
                  <a:srgbClr val="4A4A4A"/>
                </a:solidFill>
                <a:latin typeface="Microsoft YaHei"/>
              </a:rPr>
              <a:t>故事複用於美國 Father's Day Q2 與 Q4 聖誕。</a:t>
            </a:r>
          </a:p>
          <a:p>
            <a:pPr algn="l"/>
            <a:r>
              <a:rPr sz="500" b="0">
                <a:solidFill>
                  <a:srgbClr val="4A4A4A"/>
                </a:solidFill>
                <a:latin typeface="Microsoft YaHei"/>
              </a:rPr>
              <a:t/>
            </a:r>
          </a:p>
          <a:p>
            <a:pPr algn="l"/>
            <a:r>
              <a:rPr sz="1000" b="1">
                <a:solidFill>
                  <a:srgbClr val="4A4A4A"/>
                </a:solidFill>
                <a:latin typeface="Microsoft YaHei"/>
              </a:rPr>
              <a:t>為何優於其他：</a:t>
            </a:r>
          </a:p>
          <a:p>
            <a:pPr algn="l"/>
            <a:r>
              <a:rPr sz="950" b="0">
                <a:solidFill>
                  <a:srgbClr val="4A4A4A"/>
                </a:solidFill>
                <a:latin typeface="Microsoft YaHei"/>
              </a:rPr>
              <a:t>• 同時槓桿 S1 (代工 know-how) + S2 (樂天) + S3 (雙語)</a:t>
            </a:r>
          </a:p>
          <a:p>
            <a:pPr algn="l"/>
            <a:r>
              <a:rPr sz="950" b="0">
                <a:solidFill>
                  <a:srgbClr val="4A4A4A"/>
                </a:solidFill>
                <a:latin typeface="Microsoft YaHei"/>
              </a:rPr>
              <a:t>• 直攻 ANOVA Top 1 區隔屬性 gift_suitability_men</a:t>
            </a:r>
          </a:p>
          <a:p>
            <a:pPr algn="l"/>
            <a:r>
              <a:rPr sz="950" b="0">
                <a:solidFill>
                  <a:srgbClr val="4A4A4A"/>
                </a:solidFill>
                <a:latin typeface="Microsoft YaHei"/>
              </a:rPr>
              <a:t>• 競爭者 Wahl/Manscaped 無 JP 樂天通路、無職人故事可說</a:t>
            </a:r>
          </a:p>
          <a:p>
            <a:pPr algn="l"/>
            <a:r>
              <a:rPr sz="500" b="0">
                <a:solidFill>
                  <a:srgbClr val="4A4A4A"/>
                </a:solidFill>
                <a:latin typeface="Microsoft YaHei"/>
              </a:rPr>
              <a:t/>
            </a:r>
          </a:p>
          <a:p>
            <a:pPr algn="l"/>
            <a:r>
              <a:rPr sz="950" b="1">
                <a:solidFill>
                  <a:srgbClr val="4A4A4A"/>
                </a:solidFill>
                <a:latin typeface="Microsoft YaHei"/>
              </a:rPr>
              <a:t>🔁 支援策略：[W4×O4] Reddit/マイベスト 評測投放</a:t>
            </a:r>
          </a:p>
          <a:p>
            <a:pPr algn="l"/>
            <a:r>
              <a:rPr sz="950" b="1">
                <a:solidFill>
                  <a:srgbClr val="4A4A4A"/>
                </a:solidFill>
                <a:latin typeface="Microsoft YaHei"/>
              </a:rPr>
              <a:t>⏸ 暫緩策略：[W3×T1] Foil/Body Groomer 自有品牌 — 等待 </a:t>
            </a:r>
          </a:p>
          <a:p>
            <a:pPr algn="l"/>
            <a:r>
              <a:rPr sz="850" b="0">
                <a:solidFill>
                  <a:srgbClr val="4A4A4A"/>
                </a:solidFill>
                <a:latin typeface="Microsoft YaHei"/>
              </a:rPr>
              <a:t>    ：Beard/Nose 雙旗艦每年營收 &gt; USD 5M 後再啟動</a:t>
            </a:r>
          </a:p>
          <a:p>
            <a:pPr algn="l"/>
            <a:r>
              <a:rPr sz="950" b="1">
                <a:solidFill>
                  <a:srgbClr val="4A4A4A"/>
                </a:solidFill>
                <a:latin typeface="Microsoft YaHei"/>
              </a:rPr>
              <a:t>❌ 放棄策略：[W2×O1] 自建獸醫/醫療診所聯盟 — 原因：</a:t>
            </a:r>
          </a:p>
          <a:p>
            <a:pPr algn="l"/>
            <a:r>
              <a:rPr sz="850" b="0">
                <a:solidFill>
                  <a:srgbClr val="4A4A4A"/>
                </a:solidFill>
                <a:latin typeface="Microsoft YaHei"/>
              </a:rPr>
              <a:t>    投資回收期 &gt; 24 個月、現金流壓力過大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53796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4A4A4A"/>
                </a:solidFill>
                <a:latin typeface="Microsoft YaHei"/>
              </a:rPr>
              <a:t>URBANER × FourSight Lab  |  8/18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美國市場 — BMC 震央：顧客導向 (Customer-Driven)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C99A3B"/>
                </a:solidFill>
                <a:latin typeface="Microsoft YaHei"/>
              </a:rPr>
              <a:t>ANOVA Top 1 屬性 gift_suitability_men (F=1299) → 從『送禮買家』回推產品/通路/收益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"/>
            <a:ext cx="12191695" cy="45720"/>
          </a:xfrm>
          <a:prstGeom prst="rect">
            <a:avLst/>
          </a:prstGeom>
          <a:solidFill>
            <a:srgbClr val="C9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914400"/>
            <a:ext cx="11612880" cy="548640"/>
          </a:xfrm>
          <a:prstGeom prst="rect">
            <a:avLst/>
          </a:prstGeom>
          <a:solidFill>
            <a:srgbClr val="C9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960120"/>
            <a:ext cx="11430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/>
              </a:rPr>
              <a:t>震央：顧客導向 — 美國 76.5% 區隔 + 19.5% 區隔皆強烈受『送禮場景』驅動，從顧客 → VP → 產品/通路/收益鏈一氣呵成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600200"/>
            <a:ext cx="2331720" cy="2560320"/>
          </a:xfrm>
          <a:prstGeom prst="rect">
            <a:avLst/>
          </a:prstGeom>
          <a:solidFill>
            <a:srgbClr val="F5F2EC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600200"/>
            <a:ext cx="2331720" cy="292608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" y="1627632"/>
            <a:ext cx="218541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/>
              </a:rPr>
              <a:t>① KP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1929384"/>
            <a:ext cx="2240280" cy="21945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>
            <a:spAutoFit/>
          </a:bodyPr>
          <a:lstStyle/>
          <a:p>
            <a:pPr algn="l"/>
            <a:r>
              <a:rPr sz="850" b="0">
                <a:solidFill>
                  <a:srgbClr val="4A4A4A"/>
                </a:solidFill>
                <a:latin typeface="Microsoft YaHei"/>
              </a:rPr>
              <a:t>• Amazon US (FBA + PPC + DSP)</a:t>
            </a:r>
          </a:p>
          <a:p>
            <a:pPr algn="l"/>
            <a:r>
              <a:rPr sz="850" b="0">
                <a:solidFill>
                  <a:srgbClr val="4A4A4A"/>
                </a:solidFill>
                <a:latin typeface="Microsoft YaHei"/>
              </a:rPr>
              <a:t>• 美國節慶禮品包裝供應商</a:t>
            </a:r>
          </a:p>
          <a:p>
            <a:pPr algn="l"/>
            <a:r>
              <a:rPr sz="850" b="0">
                <a:solidFill>
                  <a:srgbClr val="4A4A4A"/>
                </a:solidFill>
                <a:latin typeface="Microsoft YaHei"/>
              </a:rPr>
              <a:t>• 美國當地 Influencer / YouTuber</a:t>
            </a:r>
          </a:p>
          <a:p>
            <a:pPr algn="l"/>
            <a:r>
              <a:rPr sz="850" b="0">
                <a:solidFill>
                  <a:srgbClr val="4A4A4A"/>
                </a:solidFill>
                <a:latin typeface="Microsoft YaHei"/>
              </a:rPr>
              <a:t>  (Beard care 領域)</a:t>
            </a:r>
          </a:p>
          <a:p>
            <a:pPr algn="l"/>
            <a:r>
              <a:rPr sz="850" b="0">
                <a:solidFill>
                  <a:srgbClr val="4A4A4A"/>
                </a:solidFill>
                <a:latin typeface="Microsoft YaHei"/>
              </a:rPr>
              <a:t>• Manscaped 替代品評測媒體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79192" y="1600200"/>
            <a:ext cx="2331720" cy="1243584"/>
          </a:xfrm>
          <a:prstGeom prst="rect">
            <a:avLst/>
          </a:prstGeom>
          <a:solidFill>
            <a:srgbClr val="F5F2EC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679192" y="1600200"/>
            <a:ext cx="2331720" cy="292608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52344" y="1627632"/>
            <a:ext cx="218541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/>
              </a:rPr>
              <a:t>② KA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24912" y="1929384"/>
            <a:ext cx="2240280" cy="87782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>
            <a:spAutoFit/>
          </a:bodyPr>
          <a:lstStyle/>
          <a:p>
            <a:pPr algn="l"/>
            <a:r>
              <a:rPr sz="800" b="0">
                <a:solidFill>
                  <a:srgbClr val="4A4A4A"/>
                </a:solidFill>
                <a:latin typeface="Microsoft YaHei"/>
              </a:rPr>
              <a:t>• 父親節/聖誕節禮盒企劃</a:t>
            </a:r>
          </a:p>
          <a:p>
            <a:pPr algn="l"/>
            <a:r>
              <a:rPr sz="800" b="0">
                <a:solidFill>
                  <a:srgbClr val="4A4A4A"/>
                </a:solidFill>
                <a:latin typeface="Microsoft YaHei"/>
              </a:rPr>
              <a:t>• Listing A+ 內容 (Gift Ready 主訴求)</a:t>
            </a:r>
          </a:p>
          <a:p>
            <a:pPr algn="l"/>
            <a:r>
              <a:rPr sz="800" b="0">
                <a:solidFill>
                  <a:srgbClr val="4A4A4A"/>
                </a:solidFill>
                <a:latin typeface="Microsoft YaHei"/>
              </a:rPr>
              <a:t>• PPC 預算季節性集中投放 Q2/Q4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79192" y="2916936"/>
            <a:ext cx="2331720" cy="1243584"/>
          </a:xfrm>
          <a:prstGeom prst="rect">
            <a:avLst/>
          </a:prstGeom>
          <a:solidFill>
            <a:srgbClr val="F5F2EC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679192" y="2916936"/>
            <a:ext cx="2331720" cy="292608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52344" y="2944368"/>
            <a:ext cx="218541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/>
              </a:rPr>
              <a:t>③ KR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24912" y="3246120"/>
            <a:ext cx="2240280" cy="87782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>
            <a:spAutoFit/>
          </a:bodyPr>
          <a:lstStyle/>
          <a:p>
            <a:pPr algn="l"/>
            <a:r>
              <a:rPr sz="800" b="0">
                <a:solidFill>
                  <a:srgbClr val="4A4A4A"/>
                </a:solidFill>
                <a:latin typeface="Microsoft YaHei"/>
              </a:rPr>
              <a:t>• Hero SKU B0FL267TCG (Beard)</a:t>
            </a:r>
          </a:p>
          <a:p>
            <a:pPr algn="l"/>
            <a:r>
              <a:rPr sz="800" b="0">
                <a:solidFill>
                  <a:srgbClr val="4A4A4A"/>
                </a:solidFill>
                <a:latin typeface="Microsoft YaHei"/>
              </a:rPr>
              <a:t>• 4,360 則 US 自有評論</a:t>
            </a:r>
          </a:p>
          <a:p>
            <a:pPr algn="l"/>
            <a:r>
              <a:rPr sz="800" b="0">
                <a:solidFill>
                  <a:srgbClr val="4A4A4A"/>
                </a:solidFill>
                <a:latin typeface="Microsoft YaHei"/>
              </a:rPr>
              <a:t>• 多功能 5-in-1 / 7-in-1 套組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84064" y="1600200"/>
            <a:ext cx="2377440" cy="2560320"/>
          </a:xfrm>
          <a:prstGeom prst="rect">
            <a:avLst/>
          </a:prstGeom>
          <a:solidFill>
            <a:srgbClr val="F5F2EC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84064" y="1600200"/>
            <a:ext cx="2377440" cy="292608"/>
          </a:xfrm>
          <a:prstGeom prst="rect">
            <a:avLst/>
          </a:prstGeom>
          <a:solidFill>
            <a:srgbClr val="C9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57216" y="1627632"/>
            <a:ext cx="223113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/>
              </a:rPr>
              <a:t>④ VP — 美國版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9784" y="1929384"/>
            <a:ext cx="2286000" cy="21945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>
            <a:spAutoFit/>
          </a:bodyPr>
          <a:lstStyle/>
          <a:p>
            <a:pPr algn="l"/>
            <a:r>
              <a:rPr sz="1100" b="1">
                <a:solidFill>
                  <a:srgbClr val="4A4A4A"/>
                </a:solidFill>
                <a:latin typeface="Microsoft YaHei"/>
              </a:rPr>
              <a:t>『The Perfect Gift for Him』</a:t>
            </a:r>
          </a:p>
          <a:p>
            <a:pPr algn="l"/>
            <a:r>
              <a:rPr sz="900" b="1">
                <a:solidFill>
                  <a:srgbClr val="4A4A4A"/>
                </a:solidFill>
                <a:latin typeface="Microsoft YaHei"/>
              </a:rPr>
              <a:t>一台搞定多功能 × 直接送禮</a:t>
            </a:r>
          </a:p>
          <a:p>
            <a:pPr algn="l"/>
            <a:r>
              <a:rPr sz="500" b="0">
                <a:solidFill>
                  <a:srgbClr val="4A4A4A"/>
                </a:solidFill>
                <a:latin typeface="Microsoft YaHei"/>
              </a:rPr>
              <a:t/>
            </a:r>
          </a:p>
          <a:p>
            <a:pPr algn="l"/>
            <a:r>
              <a:rPr sz="850" b="0">
                <a:solidFill>
                  <a:srgbClr val="4A4A4A"/>
                </a:solidFill>
                <a:latin typeface="Microsoft YaHei"/>
              </a:rPr>
              <a:t>• 7-in-1 多功能套組 (主圖右上徽章)</a:t>
            </a:r>
          </a:p>
          <a:p>
            <a:pPr algn="l"/>
            <a:r>
              <a:rPr sz="850" b="0">
                <a:solidFill>
                  <a:srgbClr val="4A4A4A"/>
                </a:solidFill>
                <a:latin typeface="Microsoft YaHei"/>
              </a:rPr>
              <a:t>• 父親節/聖誕節 ready 禮盒包裝</a:t>
            </a:r>
          </a:p>
          <a:p>
            <a:pPr algn="l"/>
            <a:r>
              <a:rPr sz="850" b="0">
                <a:solidFill>
                  <a:srgbClr val="4A4A4A"/>
                </a:solidFill>
                <a:latin typeface="Microsoft YaHei"/>
              </a:rPr>
              <a:t>• 日系 OEM 工藝 (vs Wahl/ANGFAN)</a:t>
            </a:r>
          </a:p>
          <a:p>
            <a:pPr algn="l"/>
            <a:r>
              <a:rPr sz="850" b="0">
                <a:solidFill>
                  <a:srgbClr val="4A4A4A"/>
                </a:solidFill>
                <a:latin typeface="Microsoft YaHei"/>
              </a:rPr>
              <a:t>• IPX7 + Wet/Dry + LCD 電量</a:t>
            </a:r>
          </a:p>
          <a:p>
            <a:pPr algn="l"/>
            <a:r>
              <a:rPr sz="850" b="0">
                <a:solidFill>
                  <a:srgbClr val="4A4A4A"/>
                </a:solidFill>
                <a:latin typeface="Microsoft YaHei"/>
              </a:rPr>
              <a:t>• 介於 Conair (入門) 與 Braun 9</a:t>
            </a:r>
          </a:p>
          <a:p>
            <a:pPr algn="l"/>
            <a:r>
              <a:rPr sz="850" b="0">
                <a:solidFill>
                  <a:srgbClr val="4A4A4A"/>
                </a:solidFill>
                <a:latin typeface="Microsoft YaHei"/>
              </a:rPr>
              <a:t>  Pro 旗艦 ($300+) 之間的中階</a:t>
            </a:r>
          </a:p>
          <a:p>
            <a:pPr algn="l"/>
            <a:r>
              <a:rPr sz="850" b="0">
                <a:solidFill>
                  <a:srgbClr val="4A4A4A"/>
                </a:solidFill>
                <a:latin typeface="Microsoft YaHei"/>
              </a:rPr>
              <a:t>  $60-120 甜蜜帶</a:t>
            </a:r>
          </a:p>
          <a:p>
            <a:pPr algn="l"/>
            <a:r>
              <a:rPr sz="850" b="0">
                <a:solidFill>
                  <a:srgbClr val="4A4A4A"/>
                </a:solidFill>
                <a:latin typeface="Microsoft YaHei"/>
              </a:rPr>
              <a:t>• 鎖定 Segment 1+2 (96% 顧客)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34656" y="1600200"/>
            <a:ext cx="2331720" cy="1243584"/>
          </a:xfrm>
          <a:prstGeom prst="rect">
            <a:avLst/>
          </a:prstGeom>
          <a:solidFill>
            <a:srgbClr val="F5F2EC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534656" y="1600200"/>
            <a:ext cx="2331720" cy="292608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07808" y="1627632"/>
            <a:ext cx="218541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/>
              </a:rPr>
              <a:t>⑤ CR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0376" y="1929384"/>
            <a:ext cx="2240280" cy="87782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>
            <a:spAutoFit/>
          </a:bodyPr>
          <a:lstStyle/>
          <a:p>
            <a:pPr algn="l"/>
            <a:r>
              <a:rPr sz="800" b="0">
                <a:solidFill>
                  <a:srgbClr val="4A4A4A"/>
                </a:solidFill>
                <a:latin typeface="Microsoft YaHei"/>
              </a:rPr>
              <a:t>• 評論回應 (Beard 與 Ear Hair 痛點)</a:t>
            </a:r>
          </a:p>
          <a:p>
            <a:pPr algn="l"/>
            <a:r>
              <a:rPr sz="800" b="0">
                <a:solidFill>
                  <a:srgbClr val="4A4A4A"/>
                </a:solidFill>
                <a:latin typeface="Microsoft YaHei"/>
              </a:rPr>
              <a:t>• 退換貨政策對齊 Amazon 預期</a:t>
            </a:r>
          </a:p>
          <a:p>
            <a:pPr algn="l"/>
            <a:r>
              <a:rPr sz="800" b="0">
                <a:solidFill>
                  <a:srgbClr val="4A4A4A"/>
                </a:solidFill>
                <a:latin typeface="Microsoft YaHei"/>
              </a:rPr>
              <a:t>• Father's Day Email 觸發行銷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34656" y="2916936"/>
            <a:ext cx="2331720" cy="1243584"/>
          </a:xfrm>
          <a:prstGeom prst="rect">
            <a:avLst/>
          </a:prstGeom>
          <a:solidFill>
            <a:srgbClr val="F5F2EC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534656" y="2916936"/>
            <a:ext cx="2331720" cy="292608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7808" y="2944368"/>
            <a:ext cx="218541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/>
              </a:rPr>
              <a:t>⑥ 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0376" y="3246120"/>
            <a:ext cx="2240280" cy="87782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>
            <a:spAutoFit/>
          </a:bodyPr>
          <a:lstStyle/>
          <a:p>
            <a:pPr algn="l"/>
            <a:r>
              <a:rPr sz="800" b="0">
                <a:solidFill>
                  <a:srgbClr val="4A4A4A"/>
                </a:solidFill>
                <a:latin typeface="Microsoft YaHei"/>
              </a:rPr>
              <a:t>• Amazon US (主) — amazon.com/urbaner</a:t>
            </a:r>
          </a:p>
          <a:p>
            <a:pPr algn="l"/>
            <a:r>
              <a:rPr sz="800" b="0">
                <a:solidFill>
                  <a:srgbClr val="4A4A4A"/>
                </a:solidFill>
                <a:latin typeface="Microsoft YaHei"/>
              </a:rPr>
              <a:t>• Amazon Live + Sponsored Video</a:t>
            </a:r>
          </a:p>
          <a:p>
            <a:pPr algn="l"/>
            <a:r>
              <a:rPr sz="800" b="0">
                <a:solidFill>
                  <a:srgbClr val="4A4A4A"/>
                </a:solidFill>
                <a:latin typeface="Microsoft YaHei"/>
              </a:rPr>
              <a:t>• Reddit/YouTube Beard 圈評測投放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939528" y="1600200"/>
            <a:ext cx="2331720" cy="2560320"/>
          </a:xfrm>
          <a:prstGeom prst="rect">
            <a:avLst/>
          </a:prstGeom>
          <a:solidFill>
            <a:srgbClr val="F5F2EC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939528" y="1600200"/>
            <a:ext cx="2331720" cy="292608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12680" y="1627632"/>
            <a:ext cx="218541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/>
              </a:rPr>
              <a:t>⑦ CS — 美國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85248" y="1929384"/>
            <a:ext cx="2240280" cy="21945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>
            <a:spAutoFit/>
          </a:bodyPr>
          <a:lstStyle/>
          <a:p>
            <a:pPr algn="l"/>
            <a:r>
              <a:rPr sz="900" b="1">
                <a:solidFill>
                  <a:srgbClr val="4A4A4A"/>
                </a:solidFill>
                <a:latin typeface="Microsoft YaHei"/>
              </a:rPr>
              <a:t>Segment 2 (76.5%, n=3,337)</a:t>
            </a:r>
          </a:p>
          <a:p>
            <a:pPr algn="l"/>
            <a:r>
              <a:rPr sz="800" b="0">
                <a:solidFill>
                  <a:srgbClr val="4A4A4A"/>
                </a:solidFill>
                <a:latin typeface="Microsoft YaHei"/>
              </a:rPr>
              <a:t>Ear Hair Trimming Function 主軸</a:t>
            </a:r>
          </a:p>
          <a:p>
            <a:pPr algn="l"/>
            <a:r>
              <a:rPr sz="800" b="0">
                <a:solidFill>
                  <a:srgbClr val="4A4A4A"/>
                </a:solidFill>
                <a:latin typeface="Microsoft YaHei"/>
              </a:rPr>
              <a:t>avg★ = 3.18 → 痛點救火優先</a:t>
            </a:r>
          </a:p>
          <a:p>
            <a:pPr algn="l"/>
            <a:r>
              <a:rPr sz="400" b="0">
                <a:solidFill>
                  <a:srgbClr val="4A4A4A"/>
                </a:solidFill>
                <a:latin typeface="Microsoft YaHei"/>
              </a:rPr>
              <a:t/>
            </a:r>
          </a:p>
          <a:p>
            <a:pPr algn="l"/>
            <a:r>
              <a:rPr sz="900" b="1">
                <a:solidFill>
                  <a:srgbClr val="4A4A4A"/>
                </a:solidFill>
                <a:latin typeface="Microsoft YaHei"/>
              </a:rPr>
              <a:t>Segment 1 (19.5%, n=850)</a:t>
            </a:r>
          </a:p>
          <a:p>
            <a:pPr algn="l"/>
            <a:r>
              <a:rPr sz="800" b="0">
                <a:solidFill>
                  <a:srgbClr val="4A4A4A"/>
                </a:solidFill>
                <a:latin typeface="Microsoft YaHei"/>
              </a:rPr>
              <a:t>Gift Suitability Men 主軸</a:t>
            </a:r>
          </a:p>
          <a:p>
            <a:pPr algn="l"/>
            <a:r>
              <a:rPr sz="800" b="0">
                <a:solidFill>
                  <a:srgbClr val="4A4A4A"/>
                </a:solidFill>
                <a:latin typeface="Microsoft YaHei"/>
              </a:rPr>
              <a:t>avg★ = 3.68 → 送禮場景擴張</a:t>
            </a:r>
          </a:p>
          <a:p>
            <a:pPr algn="l"/>
            <a:r>
              <a:rPr sz="400" b="0">
                <a:solidFill>
                  <a:srgbClr val="4A4A4A"/>
                </a:solidFill>
                <a:latin typeface="Microsoft YaHei"/>
              </a:rPr>
              <a:t/>
            </a:r>
          </a:p>
          <a:p>
            <a:pPr algn="l"/>
            <a:r>
              <a:rPr sz="900" b="1">
                <a:solidFill>
                  <a:srgbClr val="4A4A4A"/>
                </a:solidFill>
                <a:latin typeface="Microsoft YaHei"/>
              </a:rPr>
              <a:t>Segment 3 (4.0%, n=173)</a:t>
            </a:r>
          </a:p>
          <a:p>
            <a:pPr algn="l"/>
            <a:r>
              <a:rPr sz="800" b="0">
                <a:solidFill>
                  <a:srgbClr val="4A4A4A"/>
                </a:solidFill>
                <a:latin typeface="Microsoft YaHei"/>
              </a:rPr>
              <a:t>Power Source / 高分群 (★4.48)</a:t>
            </a:r>
          </a:p>
          <a:p>
            <a:pPr algn="l"/>
            <a:r>
              <a:rPr sz="800" b="0">
                <a:solidFill>
                  <a:srgbClr val="4A4A4A"/>
                </a:solidFill>
                <a:latin typeface="Microsoft YaHei"/>
              </a:rPr>
              <a:t>→ 重點維護的口碑核心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4233672"/>
            <a:ext cx="5769864" cy="1188720"/>
          </a:xfrm>
          <a:prstGeom prst="rect">
            <a:avLst/>
          </a:prstGeom>
          <a:solidFill>
            <a:srgbClr val="F5F2EC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74320" y="4233672"/>
            <a:ext cx="5769864" cy="292608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47472" y="4261104"/>
            <a:ext cx="56235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/>
              </a:rPr>
              <a:t>⑧ 成本結構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0040" y="4562856"/>
            <a:ext cx="5678424" cy="8229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>
            <a:spAutoFit/>
          </a:bodyPr>
          <a:lstStyle/>
          <a:p>
            <a:pPr algn="l"/>
            <a:r>
              <a:rPr sz="800" b="0">
                <a:solidFill>
                  <a:srgbClr val="4A4A4A"/>
                </a:solidFill>
                <a:latin typeface="Microsoft YaHei"/>
              </a:rPr>
              <a:t>• Amazon FBA 物流 + 平台費 (~15%) + PPC (~10-15%)</a:t>
            </a:r>
          </a:p>
          <a:p>
            <a:pPr algn="l"/>
            <a:r>
              <a:rPr sz="800" b="0">
                <a:solidFill>
                  <a:srgbClr val="4A4A4A"/>
                </a:solidFill>
                <a:latin typeface="Microsoft YaHei"/>
              </a:rPr>
              <a:t>• 美國節慶包裝設計與打樣費用 (Q1/Q3 提前)</a:t>
            </a:r>
          </a:p>
          <a:p>
            <a:pPr algn="l"/>
            <a:r>
              <a:rPr sz="800" b="0">
                <a:solidFill>
                  <a:srgbClr val="4A4A4A"/>
                </a:solidFill>
                <a:latin typeface="Microsoft YaHei"/>
              </a:rPr>
              <a:t>• Influencer / Reddit/YouTube 評測費用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129784" y="4233672"/>
            <a:ext cx="5769864" cy="1188720"/>
          </a:xfrm>
          <a:prstGeom prst="rect">
            <a:avLst/>
          </a:prstGeom>
          <a:solidFill>
            <a:srgbClr val="F5F2EC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129784" y="4233672"/>
            <a:ext cx="5769864" cy="292608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202936" y="4261104"/>
            <a:ext cx="56235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/>
              </a:rPr>
              <a:t>⑨ 收益流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75504" y="4562856"/>
            <a:ext cx="5678424" cy="8229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>
            <a:spAutoFit/>
          </a:bodyPr>
          <a:lstStyle/>
          <a:p>
            <a:pPr algn="l"/>
            <a:r>
              <a:rPr sz="800" b="0">
                <a:solidFill>
                  <a:srgbClr val="4A4A4A"/>
                </a:solidFill>
                <a:latin typeface="Microsoft YaHei"/>
              </a:rPr>
              <a:t>• 主：Beard / Mustache Trimmer 系列銷售 (Hero B0FL267TCG)</a:t>
            </a:r>
          </a:p>
          <a:p>
            <a:pPr algn="l"/>
            <a:r>
              <a:rPr sz="800" b="0">
                <a:solidFill>
                  <a:srgbClr val="4A4A4A"/>
                </a:solidFill>
                <a:latin typeface="Microsoft YaHei"/>
              </a:rPr>
              <a:t>• Q2 父親節 + Q4 聖誕禮盒檔期 = 全年營收 50-60%</a:t>
            </a:r>
          </a:p>
          <a:p>
            <a:pPr algn="l"/>
            <a:r>
              <a:rPr sz="800" b="0">
                <a:solidFill>
                  <a:srgbClr val="4A4A4A"/>
                </a:solidFill>
                <a:latin typeface="Microsoft YaHei"/>
              </a:rPr>
              <a:t>• 替換刀頭 / 油 / 配件後續銷售 (高毛利 recurring)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653796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4A4A4A"/>
                </a:solidFill>
                <a:latin typeface="Microsoft YaHei"/>
              </a:rPr>
              <a:t>URBANER × FourSight Lab  |  9/18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美國 SWOT — 與 Wahl / Andis / Manscaped / Braun / Conair / ANGFAN 對比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C99A3B"/>
                </a:solidFill>
                <a:latin typeface="Microsoft YaHei"/>
              </a:rPr>
              <a:t>排除『美國競爭者也有』的項目；只列 URBANER 在美國市場相對差異化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"/>
            <a:ext cx="12191695" cy="45720"/>
          </a:xfrm>
          <a:prstGeom prst="rect">
            <a:avLst/>
          </a:prstGeom>
          <a:solidFill>
            <a:srgbClr val="C9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960120"/>
            <a:ext cx="585216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960120"/>
            <a:ext cx="5852160" cy="329184"/>
          </a:xfrm>
          <a:prstGeom prst="rect">
            <a:avLst/>
          </a:prstGeom>
          <a:solidFill>
            <a:srgbClr val="3B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996696"/>
            <a:ext cx="566928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S — 美國優勢 (vs Wahl/Manscaped/Braun)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1344168"/>
            <a:ext cx="5705856" cy="21488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>
            <a:spAutoFit/>
          </a:bodyPr>
          <a:lstStyle/>
          <a:p>
            <a:pPr algn="l"/>
            <a:r>
              <a:rPr sz="1000" b="1">
                <a:solidFill>
                  <a:srgbClr val="4A4A4A"/>
                </a:solidFill>
                <a:latin typeface="Microsoft YaHei"/>
              </a:rPr>
              <a:t>S1  日系 OEM 工藝故事 (47 年代工)</a:t>
            </a:r>
          </a:p>
          <a:p>
            <a:pPr algn="l"/>
            <a:r>
              <a:rPr sz="850" b="0">
                <a:solidFill>
                  <a:srgbClr val="4A4A4A"/>
                </a:solidFill>
                <a:latin typeface="Microsoft YaHei"/>
              </a:rPr>
              <a:t>    Wahl/Andis/ANGFAN/Manscaped 都無此底蘊</a:t>
            </a:r>
          </a:p>
          <a:p>
            <a:pPr algn="l"/>
            <a:r>
              <a:rPr sz="1000" b="1">
                <a:solidFill>
                  <a:srgbClr val="4A4A4A"/>
                </a:solidFill>
                <a:latin typeface="Microsoft YaHei"/>
              </a:rPr>
              <a:t>S2  Beard Hero SKU B0FL267TCG 已成形</a:t>
            </a:r>
          </a:p>
          <a:p>
            <a:pPr algn="l"/>
            <a:r>
              <a:rPr sz="850" b="0">
                <a:solidFill>
                  <a:srgbClr val="4A4A4A"/>
                </a:solidFill>
                <a:latin typeface="Microsoft YaHei"/>
              </a:rPr>
              <a:t>    距理想點 1.601；3,337 則 Beard 評論底量</a:t>
            </a:r>
          </a:p>
          <a:p>
            <a:pPr algn="l"/>
            <a:r>
              <a:rPr sz="1000" b="1">
                <a:solidFill>
                  <a:srgbClr val="4A4A4A"/>
                </a:solidFill>
                <a:latin typeface="Microsoft YaHei"/>
              </a:rPr>
              <a:t>S3  中階價格定位 ($60-120) — 甜蜜帶</a:t>
            </a:r>
          </a:p>
          <a:p>
            <a:pPr algn="l"/>
            <a:r>
              <a:rPr sz="850" b="0">
                <a:solidFill>
                  <a:srgbClr val="4A4A4A"/>
                </a:solidFill>
                <a:latin typeface="Microsoft YaHei"/>
              </a:rPr>
              <a:t>    Conair 入門以上、Braun 9 Pro ($300) 以下</a:t>
            </a:r>
          </a:p>
          <a:p>
            <a:pPr algn="l"/>
            <a:r>
              <a:rPr sz="1000" b="1">
                <a:solidFill>
                  <a:srgbClr val="4A4A4A"/>
                </a:solidFill>
                <a:latin typeface="Microsoft YaHei"/>
              </a:rPr>
              <a:t>S4  雙語跨境營運 (US+JP 兩市場現金流分散風險)</a:t>
            </a:r>
          </a:p>
          <a:p>
            <a:pPr algn="l"/>
            <a:r>
              <a:rPr sz="850" b="0">
                <a:solidFill>
                  <a:srgbClr val="4A4A4A"/>
                </a:solidFill>
                <a:latin typeface="Microsoft YaHei"/>
              </a:rPr>
              <a:t>    Manscaped 主力 US；Wahl 主力 US；URBANER 雙線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45352" y="960120"/>
            <a:ext cx="585216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45352" y="960120"/>
            <a:ext cx="5852160" cy="329184"/>
          </a:xfrm>
          <a:prstGeom prst="rect">
            <a:avLst/>
          </a:prstGeom>
          <a:solidFill>
            <a:srgbClr val="B8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36792" y="996696"/>
            <a:ext cx="566928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W — 美國劣勢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18504" y="1344168"/>
            <a:ext cx="5705856" cy="21488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>
            <a:spAutoFit/>
          </a:bodyPr>
          <a:lstStyle/>
          <a:p>
            <a:pPr algn="l"/>
            <a:r>
              <a:rPr sz="1000" b="1">
                <a:solidFill>
                  <a:srgbClr val="4A4A4A"/>
                </a:solidFill>
                <a:latin typeface="Microsoft YaHei"/>
              </a:rPr>
              <a:t>W1  Reddit / YouTube / B&amp;B 論壇能見度低</a:t>
            </a:r>
          </a:p>
          <a:p>
            <a:pPr algn="l"/>
            <a:r>
              <a:rPr sz="850" b="0">
                <a:solidFill>
                  <a:srgbClr val="4A4A4A"/>
                </a:solidFill>
                <a:latin typeface="Microsoft YaHei"/>
              </a:rPr>
              <a:t>    競品 Wahl/Andis/Manscaped 在 Reddit 高頻被討論</a:t>
            </a:r>
          </a:p>
          <a:p>
            <a:pPr algn="l"/>
            <a:r>
              <a:rPr sz="1000" b="1">
                <a:solidFill>
                  <a:srgbClr val="4A4A4A"/>
                </a:solidFill>
                <a:latin typeface="Microsoft YaHei"/>
              </a:rPr>
              <a:t>W2  Body Groomer 品類缺席</a:t>
            </a:r>
          </a:p>
          <a:p>
            <a:pPr algn="l"/>
            <a:r>
              <a:rPr sz="850" b="0">
                <a:solidFill>
                  <a:srgbClr val="4A4A4A"/>
                </a:solidFill>
                <a:latin typeface="Microsoft YaHei"/>
              </a:rPr>
              <a:t>    Manscaped Lawn Mower 5.0 Ultra『無 guard 也不傷』獨佔</a:t>
            </a:r>
          </a:p>
          <a:p>
            <a:pPr algn="l"/>
            <a:r>
              <a:rPr sz="1000" b="1">
                <a:solidFill>
                  <a:srgbClr val="4A4A4A"/>
                </a:solidFill>
                <a:latin typeface="Microsoft YaHei"/>
              </a:rPr>
              <a:t>W3  Foil Shaver 品類薄弱</a:t>
            </a:r>
          </a:p>
          <a:p>
            <a:pPr algn="l"/>
            <a:r>
              <a:rPr sz="850" b="0">
                <a:solidFill>
                  <a:srgbClr val="4A4A4A"/>
                </a:solidFill>
                <a:latin typeface="Microsoft YaHei"/>
              </a:rPr>
              <a:t>    Braun Series 9 + Panasonic Arc 5 雙佔</a:t>
            </a:r>
          </a:p>
          <a:p>
            <a:pPr algn="l"/>
            <a:r>
              <a:rPr sz="1000" b="1">
                <a:solidFill>
                  <a:srgbClr val="4A4A4A"/>
                </a:solidFill>
                <a:latin typeface="Microsoft YaHei"/>
              </a:rPr>
              <a:t>W4  Pet 品類在美無 Hero SKU</a:t>
            </a:r>
          </a:p>
          <a:p>
            <a:pPr algn="l"/>
            <a:r>
              <a:rPr sz="850" b="0">
                <a:solidFill>
                  <a:srgbClr val="4A4A4A"/>
                </a:solidFill>
                <a:latin typeface="Microsoft YaHei"/>
              </a:rPr>
              <a:t>    Casfuy 終身保固已成『最不會被閒置』口碑</a:t>
            </a:r>
          </a:p>
          <a:p>
            <a:pPr algn="l"/>
            <a:r>
              <a:rPr sz="1000" b="1">
                <a:solidFill>
                  <a:srgbClr val="4A4A4A"/>
                </a:solidFill>
                <a:latin typeface="Microsoft YaHei"/>
              </a:rPr>
              <a:t>W5  缺 Q2/Q4 節慶以外的買點故事</a:t>
            </a:r>
          </a:p>
          <a:p>
            <a:pPr algn="l"/>
            <a:r>
              <a:rPr sz="850" b="0">
                <a:solidFill>
                  <a:srgbClr val="4A4A4A"/>
                </a:solidFill>
                <a:latin typeface="Microsoft YaHei"/>
              </a:rPr>
              <a:t>    淡季 (Q1/Q3) 銷售落差過大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657600"/>
            <a:ext cx="585216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3657600"/>
            <a:ext cx="5852160" cy="329184"/>
          </a:xfrm>
          <a:prstGeom prst="rect">
            <a:avLst/>
          </a:prstGeom>
          <a:solidFill>
            <a:srgbClr val="356E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3694176"/>
            <a:ext cx="566928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O — 美國機會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" y="4041648"/>
            <a:ext cx="5705856" cy="21488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>
            <a:spAutoFit/>
          </a:bodyPr>
          <a:lstStyle/>
          <a:p>
            <a:pPr algn="l"/>
            <a:r>
              <a:rPr sz="1000" b="1">
                <a:solidFill>
                  <a:srgbClr val="4A4A4A"/>
                </a:solidFill>
                <a:latin typeface="Microsoft YaHei"/>
              </a:rPr>
              <a:t>O1  父親節 (6/15) + 聖誕 (12/25) 送禮潮</a:t>
            </a:r>
          </a:p>
          <a:p>
            <a:pPr algn="l"/>
            <a:r>
              <a:rPr sz="850" b="0">
                <a:solidFill>
                  <a:srgbClr val="4A4A4A"/>
                </a:solidFill>
                <a:latin typeface="Microsoft YaHei"/>
              </a:rPr>
              <a:t>    gift_suitability_men ANOVA F=1299 (Top 1 區隔)</a:t>
            </a:r>
          </a:p>
          <a:p>
            <a:pPr algn="l"/>
            <a:r>
              <a:rPr sz="1000" b="1">
                <a:solidFill>
                  <a:srgbClr val="4A4A4A"/>
                </a:solidFill>
                <a:latin typeface="Microsoft YaHei"/>
              </a:rPr>
              <a:t>O2  Wahl 漸被 ANGFAN 等高速無刷馬達淘汰</a:t>
            </a:r>
          </a:p>
          <a:p>
            <a:pPr algn="l"/>
            <a:r>
              <a:rPr sz="850" b="0">
                <a:solidFill>
                  <a:srgbClr val="4A4A4A"/>
                </a:solidFill>
                <a:latin typeface="Microsoft YaHei"/>
              </a:rPr>
              <a:t>    用戶主動轉移 → URBANER 可乘機卡位</a:t>
            </a:r>
          </a:p>
          <a:p>
            <a:pPr algn="l"/>
            <a:r>
              <a:rPr sz="1000" b="1">
                <a:solidFill>
                  <a:srgbClr val="4A4A4A"/>
                </a:solidFill>
                <a:latin typeface="Microsoft YaHei"/>
              </a:rPr>
              <a:t>O3  Manscaped 替代品搜尋量大</a:t>
            </a:r>
          </a:p>
          <a:p>
            <a:pPr algn="l"/>
            <a:r>
              <a:rPr sz="850" b="0">
                <a:solidFill>
                  <a:srgbClr val="4A4A4A"/>
                </a:solidFill>
                <a:latin typeface="Microsoft YaHei"/>
              </a:rPr>
              <a:t>    Reddit『Manscaped alternatives』高頻搜尋</a:t>
            </a:r>
          </a:p>
          <a:p>
            <a:pPr algn="l"/>
            <a:r>
              <a:rPr sz="1000" b="1">
                <a:solidFill>
                  <a:srgbClr val="4A4A4A"/>
                </a:solidFill>
                <a:latin typeface="Microsoft YaHei"/>
              </a:rPr>
              <a:t>O4  Beard 多功能套組需求 (num_grooming_functions F=1193)</a:t>
            </a:r>
          </a:p>
          <a:p>
            <a:pPr algn="l"/>
            <a:r>
              <a:rPr sz="850" b="0">
                <a:solidFill>
                  <a:srgbClr val="4A4A4A"/>
                </a:solidFill>
                <a:latin typeface="Microsoft YaHei"/>
              </a:rPr>
              <a:t>    7-in-1 套組形態為市場期待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45352" y="3657600"/>
            <a:ext cx="585216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45352" y="3657600"/>
            <a:ext cx="5852160" cy="329184"/>
          </a:xfrm>
          <a:prstGeom prst="rect">
            <a:avLst/>
          </a:prstGeom>
          <a:solidFill>
            <a:srgbClr val="D48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3694176"/>
            <a:ext cx="566928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T — 美國威脅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18504" y="4041648"/>
            <a:ext cx="5705856" cy="21488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>
            <a:spAutoFit/>
          </a:bodyPr>
          <a:lstStyle/>
          <a:p>
            <a:pPr algn="l"/>
            <a:r>
              <a:rPr sz="1000" b="1">
                <a:solidFill>
                  <a:srgbClr val="4A4A4A"/>
                </a:solidFill>
                <a:latin typeface="Microsoft YaHei"/>
              </a:rPr>
              <a:t>T1  中國新進 (ANGFAN/Valano/INVJOY) 高 spec/低價</a:t>
            </a:r>
          </a:p>
          <a:p>
            <a:pPr algn="l"/>
            <a:r>
              <a:rPr sz="850" b="0">
                <a:solidFill>
                  <a:srgbClr val="4A4A4A"/>
                </a:solidFill>
                <a:latin typeface="Microsoft YaHei"/>
              </a:rPr>
              <a:t>    LCD + USB-C + 高速馬達同等規格價格更低</a:t>
            </a:r>
          </a:p>
          <a:p>
            <a:pPr algn="l"/>
            <a:r>
              <a:rPr sz="1000" b="1">
                <a:solidFill>
                  <a:srgbClr val="4A4A4A"/>
                </a:solidFill>
                <a:latin typeface="Microsoft YaHei"/>
              </a:rPr>
              <a:t>T2  Manscaped 行銷預算碾壓 (Super Bowl 廣告)</a:t>
            </a:r>
          </a:p>
          <a:p>
            <a:pPr algn="l"/>
            <a:r>
              <a:rPr sz="850" b="0">
                <a:solidFill>
                  <a:srgbClr val="4A4A4A"/>
                </a:solidFill>
                <a:latin typeface="Microsoft YaHei"/>
              </a:rPr>
              <a:t>    Body Groomer 心智占有極高</a:t>
            </a:r>
          </a:p>
          <a:p>
            <a:pPr algn="l"/>
            <a:r>
              <a:rPr sz="1000" b="1">
                <a:solidFill>
                  <a:srgbClr val="4A4A4A"/>
                </a:solidFill>
                <a:latin typeface="Microsoft YaHei"/>
              </a:rPr>
              <a:t>T3  Amazon US PPC CPC 持續上升</a:t>
            </a:r>
          </a:p>
          <a:p>
            <a:pPr algn="l"/>
            <a:r>
              <a:rPr sz="850" b="0">
                <a:solidFill>
                  <a:srgbClr val="4A4A4A"/>
                </a:solidFill>
                <a:latin typeface="Microsoft YaHei"/>
              </a:rPr>
              <a:t>    Beard 類目 ACoS 已到 30%+</a:t>
            </a:r>
          </a:p>
          <a:p>
            <a:pPr algn="l"/>
            <a:r>
              <a:rPr sz="1000" b="1">
                <a:solidFill>
                  <a:srgbClr val="4A4A4A"/>
                </a:solidFill>
                <a:latin typeface="Microsoft YaHei"/>
              </a:rPr>
              <a:t>T4  美中關稅政策不確定性</a:t>
            </a:r>
          </a:p>
          <a:p>
            <a:pPr algn="l"/>
            <a:r>
              <a:rPr sz="850" b="0">
                <a:solidFill>
                  <a:srgbClr val="4A4A4A"/>
                </a:solidFill>
                <a:latin typeface="Microsoft YaHei"/>
              </a:rPr>
              <a:t>    若關稅升至 25%+ 將直接侵蝕毛利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53796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4A4A4A"/>
                </a:solidFill>
                <a:latin typeface="Microsoft YaHei"/>
              </a:rPr>
              <a:t>URBANER × FourSight Lab  |  10/18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美國 SWOT 策略碰撞 — TOWS 矩陣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C99A3B"/>
                </a:solidFill>
                <a:latin typeface="Microsoft YaHei"/>
              </a:rPr>
              <a:t>態勢：S&gt;W (有日系工藝故事) × O&gt;T (送禮潮 + Wahl 退場機會) → 主象限：SO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"/>
            <a:ext cx="12191695" cy="45720"/>
          </a:xfrm>
          <a:prstGeom prst="rect">
            <a:avLst/>
          </a:prstGeom>
          <a:solidFill>
            <a:srgbClr val="C9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960120"/>
            <a:ext cx="585216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960120"/>
            <a:ext cx="5852160" cy="329184"/>
          </a:xfrm>
          <a:prstGeom prst="rect">
            <a:avLst/>
          </a:prstGeom>
          <a:solidFill>
            <a:srgbClr val="3B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996696"/>
            <a:ext cx="566928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SO 美國主象限 — 乘勝追擊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1344168"/>
            <a:ext cx="5705856" cy="21488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>
            <a:spAutoFit/>
          </a:bodyPr>
          <a:lstStyle/>
          <a:p>
            <a:pPr algn="l"/>
            <a:r>
              <a:rPr sz="950" b="1">
                <a:solidFill>
                  <a:srgbClr val="4A4A4A"/>
                </a:solidFill>
                <a:latin typeface="Microsoft YaHei"/>
              </a:rPr>
              <a:t>[S1×O1] 把『47年代工日系工藝』包裝成 Father's Day 主題影片</a:t>
            </a:r>
          </a:p>
          <a:p>
            <a:pPr algn="l"/>
            <a:r>
              <a:rPr sz="850" b="0">
                <a:solidFill>
                  <a:srgbClr val="4A4A4A"/>
                </a:solidFill>
                <a:latin typeface="Microsoft YaHei"/>
              </a:rPr>
              <a:t>        ＋禮盒，直攻 Q2/Q4 送禮潮 ★主策略候選</a:t>
            </a:r>
          </a:p>
          <a:p>
            <a:pPr algn="l"/>
            <a:r>
              <a:rPr sz="950" b="1">
                <a:solidFill>
                  <a:srgbClr val="4A4A4A"/>
                </a:solidFill>
                <a:latin typeface="Microsoft YaHei"/>
              </a:rPr>
              <a:t>[S2×O4] B0FL267TCG 升級成 7-in-1 套組版主推 Q4</a:t>
            </a:r>
          </a:p>
          <a:p>
            <a:pPr algn="l"/>
            <a:r>
              <a:rPr sz="950" b="1">
                <a:solidFill>
                  <a:srgbClr val="4A4A4A"/>
                </a:solidFill>
                <a:latin typeface="Microsoft YaHei"/>
              </a:rPr>
              <a:t>[S3×O2] Wahl 退場帶動的價格甜蜜帶 ($60-120) 卡位</a:t>
            </a:r>
          </a:p>
          <a:p>
            <a:pPr algn="l"/>
            <a:r>
              <a:rPr sz="950" b="1">
                <a:solidFill>
                  <a:srgbClr val="4A4A4A"/>
                </a:solidFill>
                <a:latin typeface="Microsoft YaHei"/>
              </a:rPr>
              <a:t>[S1×O3] 製作『Manscaped 替代』比較圖、強調日系工藝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45352" y="960120"/>
            <a:ext cx="585216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45352" y="960120"/>
            <a:ext cx="5852160" cy="329184"/>
          </a:xfrm>
          <a:prstGeom prst="rect">
            <a:avLst/>
          </a:prstGeom>
          <a:solidFill>
            <a:srgbClr val="D48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36792" y="996696"/>
            <a:ext cx="566928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ST — 守株待兔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18504" y="1344168"/>
            <a:ext cx="5705856" cy="21488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>
            <a:spAutoFit/>
          </a:bodyPr>
          <a:lstStyle/>
          <a:p>
            <a:pPr algn="l"/>
            <a:r>
              <a:rPr sz="950" b="1">
                <a:solidFill>
                  <a:srgbClr val="4A4A4A"/>
                </a:solidFill>
                <a:latin typeface="Microsoft YaHei"/>
              </a:rPr>
              <a:t>[S3×T1] 中階定位避開中國 &lt; $40 紅海，</a:t>
            </a:r>
          </a:p>
          <a:p>
            <a:pPr algn="l"/>
            <a:r>
              <a:rPr sz="850" b="0">
                <a:solidFill>
                  <a:srgbClr val="4A4A4A"/>
                </a:solidFill>
                <a:latin typeface="Microsoft YaHei"/>
              </a:rPr>
              <a:t>        強化『日系工藝 + 1年保固』溢價合理化</a:t>
            </a:r>
          </a:p>
          <a:p>
            <a:pPr algn="l"/>
            <a:r>
              <a:rPr sz="950" b="1">
                <a:solidFill>
                  <a:srgbClr val="4A4A4A"/>
                </a:solidFill>
                <a:latin typeface="Microsoft YaHei"/>
              </a:rPr>
              <a:t>[S4×T4] 美中關稅升高時、加速移轉至 OEM 越南/台灣產線</a:t>
            </a:r>
          </a:p>
          <a:p>
            <a:pPr algn="l"/>
            <a:r>
              <a:rPr sz="850" b="0">
                <a:solidFill>
                  <a:srgbClr val="4A4A4A"/>
                </a:solidFill>
                <a:latin typeface="Microsoft YaHei"/>
              </a:rPr>
              <a:t>        對抗供應鏈成本衝擊 (利用 OBM+OEM 雙引擎彈性)</a:t>
            </a:r>
          </a:p>
          <a:p>
            <a:pPr algn="l"/>
            <a:r>
              <a:rPr sz="950" b="1">
                <a:solidFill>
                  <a:srgbClr val="4A4A4A"/>
                </a:solidFill>
                <a:latin typeface="Microsoft YaHei"/>
              </a:rPr>
              <a:t>[S2×T3] PPC 集中於 Hero SKU 而非廣撒，提升 ROAS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657600"/>
            <a:ext cx="585216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3657600"/>
            <a:ext cx="5852160" cy="329184"/>
          </a:xfrm>
          <a:prstGeom prst="rect">
            <a:avLst/>
          </a:prstGeom>
          <a:solidFill>
            <a:srgbClr val="356E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3694176"/>
            <a:ext cx="566928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WO — 策略聯盟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" y="4041648"/>
            <a:ext cx="5705856" cy="21488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>
            <a:spAutoFit/>
          </a:bodyPr>
          <a:lstStyle/>
          <a:p>
            <a:pPr algn="l"/>
            <a:r>
              <a:rPr sz="950" b="1">
                <a:solidFill>
                  <a:srgbClr val="4A4A4A"/>
                </a:solidFill>
                <a:latin typeface="Microsoft YaHei"/>
              </a:rPr>
              <a:t>[W1×O3] 主動經營 Reddit/r/wicked_edge/r/beards/r/Manscaping</a:t>
            </a:r>
          </a:p>
          <a:p>
            <a:pPr algn="l"/>
            <a:r>
              <a:rPr sz="850" b="0">
                <a:solidFill>
                  <a:srgbClr val="4A4A4A"/>
                </a:solidFill>
                <a:latin typeface="Microsoft YaHei"/>
              </a:rPr>
              <a:t>        + B&amp;B 論壇，建立『Manscaped 平價替代』口碑</a:t>
            </a:r>
          </a:p>
          <a:p>
            <a:pPr algn="l"/>
            <a:r>
              <a:rPr sz="950" b="1">
                <a:solidFill>
                  <a:srgbClr val="4A4A4A"/>
                </a:solidFill>
                <a:latin typeface="Microsoft YaHei"/>
              </a:rPr>
              <a:t>[W5×O1] 開發母親節 (5月) 女士系列 + 寵物父親節迷你版</a:t>
            </a:r>
          </a:p>
          <a:p>
            <a:pPr algn="l"/>
            <a:r>
              <a:rPr sz="850" b="0">
                <a:solidFill>
                  <a:srgbClr val="4A4A4A"/>
                </a:solidFill>
                <a:latin typeface="Microsoft YaHei"/>
              </a:rPr>
              <a:t>        填補淡季缺口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45352" y="3657600"/>
            <a:ext cx="585216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45352" y="3657600"/>
            <a:ext cx="5852160" cy="329184"/>
          </a:xfrm>
          <a:prstGeom prst="rect">
            <a:avLst/>
          </a:prstGeom>
          <a:solidFill>
            <a:srgbClr val="B8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3694176"/>
            <a:ext cx="566928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WT — 退守/避險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18504" y="4041648"/>
            <a:ext cx="5705856" cy="21488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>
            <a:spAutoFit/>
          </a:bodyPr>
          <a:lstStyle/>
          <a:p>
            <a:pPr algn="l"/>
            <a:r>
              <a:rPr sz="950" b="1">
                <a:solidFill>
                  <a:srgbClr val="4A4A4A"/>
                </a:solidFill>
                <a:latin typeface="Microsoft YaHei"/>
              </a:rPr>
              <a:t>[W2×T2] Body Groomer 品類『不投入自有品牌』</a:t>
            </a:r>
          </a:p>
          <a:p>
            <a:pPr algn="l"/>
            <a:r>
              <a:rPr sz="850" b="0">
                <a:solidFill>
                  <a:srgbClr val="4A4A4A"/>
                </a:solidFill>
                <a:latin typeface="Microsoft YaHei"/>
              </a:rPr>
              <a:t>        改以 OEM 接 Manscaped 競品的單，避開正面對決</a:t>
            </a:r>
          </a:p>
          <a:p>
            <a:pPr algn="l"/>
            <a:r>
              <a:rPr sz="950" b="1">
                <a:solidFill>
                  <a:srgbClr val="4A4A4A"/>
                </a:solidFill>
                <a:latin typeface="Microsoft YaHei"/>
              </a:rPr>
              <a:t>[W4×T1] Pet 品類以 OEM 為主、暫停 OBM 投入</a:t>
            </a:r>
          </a:p>
          <a:p>
            <a:pPr algn="l"/>
            <a:r>
              <a:rPr sz="850" b="0">
                <a:solidFill>
                  <a:srgbClr val="4A4A4A"/>
                </a:solidFill>
                <a:latin typeface="Microsoft YaHei"/>
              </a:rPr>
              <a:t>        避免在 Casfuy 主場硬碰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53796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4A4A4A"/>
                </a:solidFill>
                <a:latin typeface="Microsoft YaHei"/>
              </a:rPr>
              <a:t>URBANER × FourSight Lab  |  11/18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美國 — 策略定調卡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C99A3B"/>
                </a:solidFill>
                <a:latin typeface="Microsoft YaHei"/>
              </a:rPr>
              <a:t>整體態勢 S&gt;W × O&gt;T → SO 主象限 → 主策略：Gift-Ready × Multi-Function Pro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"/>
            <a:ext cx="12191695" cy="45720"/>
          </a:xfrm>
          <a:prstGeom prst="rect">
            <a:avLst/>
          </a:prstGeom>
          <a:solidFill>
            <a:srgbClr val="C9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914400"/>
            <a:ext cx="5852160" cy="5486400"/>
          </a:xfrm>
          <a:prstGeom prst="rect">
            <a:avLst/>
          </a:prstGeom>
          <a:solidFill>
            <a:srgbClr val="F5F2EC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005840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B2E4F"/>
                </a:solidFill>
                <a:latin typeface="Microsoft YaHei"/>
              </a:rPr>
              <a:t>美國候選策略評分 (主象限 SO)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5486400" cy="4937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>
            <a:spAutoFit/>
          </a:bodyPr>
          <a:lstStyle/>
          <a:p>
            <a:pPr algn="l"/>
            <a:r>
              <a:rPr sz="1050" b="1">
                <a:solidFill>
                  <a:srgbClr val="4A4A4A"/>
                </a:solidFill>
                <a:latin typeface="Microsoft YaHei"/>
              </a:rPr>
              <a:t>[S1×O1]  Father's Day 日系工藝禮盒</a:t>
            </a:r>
          </a:p>
          <a:p>
            <a:pPr algn="l"/>
            <a:r>
              <a:rPr sz="900" b="0">
                <a:solidFill>
                  <a:srgbClr val="4A4A4A"/>
                </a:solidFill>
                <a:latin typeface="Microsoft YaHei"/>
              </a:rPr>
              <a:t>    可行性 3 / 影響力 3 / 時效性 3 = 9 ★ 最高分</a:t>
            </a:r>
          </a:p>
          <a:p>
            <a:pPr algn="l"/>
            <a:r>
              <a:rPr sz="500" b="0">
                <a:solidFill>
                  <a:srgbClr val="4A4A4A"/>
                </a:solidFill>
                <a:latin typeface="Microsoft YaHei"/>
              </a:rPr>
              <a:t/>
            </a:r>
          </a:p>
          <a:p>
            <a:pPr algn="l"/>
            <a:r>
              <a:rPr sz="1050" b="1">
                <a:solidFill>
                  <a:srgbClr val="4A4A4A"/>
                </a:solidFill>
                <a:latin typeface="Microsoft YaHei"/>
              </a:rPr>
              <a:t>[S2×O4]  Hero SKU 升級 7-in-1 套組</a:t>
            </a:r>
          </a:p>
          <a:p>
            <a:pPr algn="l"/>
            <a:r>
              <a:rPr sz="900" b="0">
                <a:solidFill>
                  <a:srgbClr val="4A4A4A"/>
                </a:solidFill>
                <a:latin typeface="Microsoft YaHei"/>
              </a:rPr>
              <a:t>    可行性 3 / 影響力 3 / 時效性 2 = 8</a:t>
            </a:r>
          </a:p>
          <a:p>
            <a:pPr algn="l"/>
            <a:r>
              <a:rPr sz="500" b="0">
                <a:solidFill>
                  <a:srgbClr val="4A4A4A"/>
                </a:solidFill>
                <a:latin typeface="Microsoft YaHei"/>
              </a:rPr>
              <a:t/>
            </a:r>
          </a:p>
          <a:p>
            <a:pPr algn="l"/>
            <a:r>
              <a:rPr sz="1050" b="1">
                <a:solidFill>
                  <a:srgbClr val="4A4A4A"/>
                </a:solidFill>
                <a:latin typeface="Microsoft YaHei"/>
              </a:rPr>
              <a:t>[S3×O2]  價格甜蜜帶卡位 (Wahl 退場區間)</a:t>
            </a:r>
          </a:p>
          <a:p>
            <a:pPr algn="l"/>
            <a:r>
              <a:rPr sz="900" b="0">
                <a:solidFill>
                  <a:srgbClr val="4A4A4A"/>
                </a:solidFill>
                <a:latin typeface="Microsoft YaHei"/>
              </a:rPr>
              <a:t>    可行性 3 / 影響力 2 / 時效性 3 = 8</a:t>
            </a:r>
          </a:p>
          <a:p>
            <a:pPr algn="l"/>
            <a:r>
              <a:rPr sz="500" b="0">
                <a:solidFill>
                  <a:srgbClr val="4A4A4A"/>
                </a:solidFill>
                <a:latin typeface="Microsoft YaHei"/>
              </a:rPr>
              <a:t/>
            </a:r>
          </a:p>
          <a:p>
            <a:pPr algn="l"/>
            <a:r>
              <a:rPr sz="1050" b="1">
                <a:solidFill>
                  <a:srgbClr val="4A4A4A"/>
                </a:solidFill>
                <a:latin typeface="Microsoft YaHei"/>
              </a:rPr>
              <a:t>[S1×O3]  Manscaped 替代比較行銷</a:t>
            </a:r>
          </a:p>
          <a:p>
            <a:pPr algn="l"/>
            <a:r>
              <a:rPr sz="900" b="0">
                <a:solidFill>
                  <a:srgbClr val="4A4A4A"/>
                </a:solidFill>
                <a:latin typeface="Microsoft YaHei"/>
              </a:rPr>
              <a:t>    可行性 2 / 影響力 2 / 時效性 3 = 7</a:t>
            </a:r>
          </a:p>
          <a:p>
            <a:pPr algn="l"/>
            <a:r>
              <a:rPr sz="500" b="0">
                <a:solidFill>
                  <a:srgbClr val="4A4A4A"/>
                </a:solidFill>
                <a:latin typeface="Microsoft YaHei"/>
              </a:rPr>
              <a:t/>
            </a:r>
          </a:p>
          <a:p>
            <a:pPr algn="l"/>
            <a:r>
              <a:rPr sz="1050" b="1">
                <a:solidFill>
                  <a:srgbClr val="4A4A4A"/>
                </a:solidFill>
                <a:latin typeface="Microsoft YaHei"/>
              </a:rPr>
              <a:t>關鍵節點時程</a:t>
            </a:r>
          </a:p>
          <a:p>
            <a:pPr algn="l"/>
            <a:r>
              <a:rPr sz="900" b="0">
                <a:solidFill>
                  <a:srgbClr val="4A4A4A"/>
                </a:solidFill>
                <a:latin typeface="Microsoft YaHei"/>
              </a:rPr>
              <a:t>• 1-2 月：禮盒打樣與供應商談判</a:t>
            </a:r>
          </a:p>
          <a:p>
            <a:pPr algn="l"/>
            <a:r>
              <a:rPr sz="900" b="0">
                <a:solidFill>
                  <a:srgbClr val="4A4A4A"/>
                </a:solidFill>
                <a:latin typeface="Microsoft YaHei"/>
              </a:rPr>
              <a:t>• 3-4 月：Listing 改版 + A+ 內容更新</a:t>
            </a:r>
          </a:p>
          <a:p>
            <a:pPr algn="l"/>
            <a:r>
              <a:rPr sz="900" b="0">
                <a:solidFill>
                  <a:srgbClr val="4A4A4A"/>
                </a:solidFill>
                <a:latin typeface="Microsoft YaHei"/>
              </a:rPr>
              <a:t>• 5-6 月：Father's Day 廣告主檔期</a:t>
            </a:r>
          </a:p>
          <a:p>
            <a:pPr algn="l"/>
            <a:r>
              <a:rPr sz="900" b="0">
                <a:solidFill>
                  <a:srgbClr val="4A4A4A"/>
                </a:solidFill>
                <a:latin typeface="Microsoft YaHei"/>
              </a:rPr>
              <a:t>• 9-11 月：複用素材跑黑五/聖誕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914400"/>
            <a:ext cx="5669280" cy="54864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914400"/>
            <a:ext cx="5669280" cy="365760"/>
          </a:xfrm>
          <a:prstGeom prst="rect">
            <a:avLst/>
          </a:prstGeom>
          <a:solidFill>
            <a:srgbClr val="C9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950976"/>
            <a:ext cx="5486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</a:rPr>
              <a:t>✓ 美國主策略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417320"/>
            <a:ext cx="5486400" cy="4937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>
            <a:spAutoFit/>
          </a:bodyPr>
          <a:lstStyle/>
          <a:p>
            <a:pPr algn="l"/>
            <a:r>
              <a:rPr sz="1100" b="1">
                <a:solidFill>
                  <a:srgbClr val="4A4A4A"/>
                </a:solidFill>
                <a:latin typeface="Microsoft YaHei"/>
              </a:rPr>
              <a:t>來源：[S1×O1]</a:t>
            </a:r>
          </a:p>
          <a:p>
            <a:pPr algn="l"/>
            <a:r>
              <a:rPr sz="1100" b="1">
                <a:solidFill>
                  <a:srgbClr val="4A4A4A"/>
                </a:solidFill>
                <a:latin typeface="Microsoft YaHei"/>
              </a:rPr>
              <a:t>「Gift-Ready × Japanese Craftsmanship」 — 父親節/聖誕禮盒</a:t>
            </a:r>
          </a:p>
          <a:p>
            <a:pPr algn="l"/>
            <a:r>
              <a:rPr sz="500" b="0">
                <a:solidFill>
                  <a:srgbClr val="4A4A4A"/>
                </a:solidFill>
                <a:latin typeface="Microsoft YaHei"/>
              </a:rPr>
              <a:t/>
            </a:r>
          </a:p>
          <a:p>
            <a:pPr algn="l"/>
            <a:r>
              <a:rPr sz="1000" b="1">
                <a:solidFill>
                  <a:srgbClr val="4A4A4A"/>
                </a:solidFill>
                <a:latin typeface="Microsoft YaHei"/>
              </a:rPr>
              <a:t>策略描述：</a:t>
            </a:r>
          </a:p>
          <a:p>
            <a:pPr algn="l"/>
            <a:r>
              <a:rPr sz="950" b="0">
                <a:solidFill>
                  <a:srgbClr val="4A4A4A"/>
                </a:solidFill>
                <a:latin typeface="Microsoft YaHei"/>
              </a:rPr>
              <a:t>• 主推 B0FL267TCG (Beard Hero) 改為 7-in-1 套組 + 禮盒包裝</a:t>
            </a:r>
          </a:p>
          <a:p>
            <a:pPr algn="l"/>
            <a:r>
              <a:rPr sz="950" b="0">
                <a:solidFill>
                  <a:srgbClr val="4A4A4A"/>
                </a:solidFill>
                <a:latin typeface="Microsoft YaHei"/>
              </a:rPr>
              <a:t>• Listing A+ 第一屏：『Perfect Gift for Him』</a:t>
            </a:r>
          </a:p>
          <a:p>
            <a:pPr algn="l"/>
            <a:r>
              <a:rPr sz="950" b="0">
                <a:solidFill>
                  <a:srgbClr val="4A4A4A"/>
                </a:solidFill>
                <a:latin typeface="Microsoft YaHei"/>
              </a:rPr>
              <a:t>• 強調 47 年日系 OEM 工藝故事 (圖文 + 開箱影片)</a:t>
            </a:r>
          </a:p>
          <a:p>
            <a:pPr algn="l"/>
            <a:r>
              <a:rPr sz="950" b="0">
                <a:solidFill>
                  <a:srgbClr val="4A4A4A"/>
                </a:solidFill>
                <a:latin typeface="Microsoft YaHei"/>
              </a:rPr>
              <a:t>• PPC 預算 60% 集中 Q2 (5-6 月) + Q4 (10-12 月)</a:t>
            </a:r>
          </a:p>
          <a:p>
            <a:pPr algn="l"/>
            <a:r>
              <a:rPr sz="950" b="0">
                <a:solidFill>
                  <a:srgbClr val="4A4A4A"/>
                </a:solidFill>
                <a:latin typeface="Microsoft YaHei"/>
              </a:rPr>
              <a:t>• 包裝直接可送、不用重新包裝 (差異化 vs Wahl/ANGFAN)</a:t>
            </a:r>
          </a:p>
          <a:p>
            <a:pPr algn="l"/>
            <a:r>
              <a:rPr sz="400" b="0">
                <a:solidFill>
                  <a:srgbClr val="4A4A4A"/>
                </a:solidFill>
                <a:latin typeface="Microsoft YaHei"/>
              </a:rPr>
              <a:t/>
            </a:r>
          </a:p>
          <a:p>
            <a:pPr algn="l"/>
            <a:r>
              <a:rPr sz="1000" b="1">
                <a:solidFill>
                  <a:srgbClr val="4A4A4A"/>
                </a:solidFill>
                <a:latin typeface="Microsoft YaHei"/>
              </a:rPr>
              <a:t>為何優於其他候選：</a:t>
            </a:r>
          </a:p>
          <a:p>
            <a:pPr algn="l"/>
            <a:r>
              <a:rPr sz="950" b="0">
                <a:solidFill>
                  <a:srgbClr val="4A4A4A"/>
                </a:solidFill>
                <a:latin typeface="Microsoft YaHei"/>
              </a:rPr>
              <a:t>• 同時對應 ANOVA Top 1 屬性 (gift_suitability_men)</a:t>
            </a:r>
          </a:p>
          <a:p>
            <a:pPr algn="l"/>
            <a:r>
              <a:rPr sz="950" b="0">
                <a:solidFill>
                  <a:srgbClr val="4A4A4A"/>
                </a:solidFill>
                <a:latin typeface="Microsoft YaHei"/>
              </a:rPr>
              <a:t>• 槓桿 S1+S2+S3 三大優勢</a:t>
            </a:r>
          </a:p>
          <a:p>
            <a:pPr algn="l"/>
            <a:r>
              <a:rPr sz="950" b="0">
                <a:solidFill>
                  <a:srgbClr val="4A4A4A"/>
                </a:solidFill>
                <a:latin typeface="Microsoft YaHei"/>
              </a:rPr>
              <a:t>• Wahl/ANGFAN 無『日系工藝』故事可說</a:t>
            </a:r>
          </a:p>
          <a:p>
            <a:pPr algn="l"/>
            <a:r>
              <a:rPr sz="400" b="0">
                <a:solidFill>
                  <a:srgbClr val="4A4A4A"/>
                </a:solidFill>
                <a:latin typeface="Microsoft YaHei"/>
              </a:rPr>
              <a:t/>
            </a:r>
          </a:p>
          <a:p>
            <a:pPr algn="l"/>
            <a:r>
              <a:rPr sz="950" b="1">
                <a:solidFill>
                  <a:srgbClr val="4A4A4A"/>
                </a:solidFill>
                <a:latin typeface="Microsoft YaHei"/>
              </a:rPr>
              <a:t>🔁 支援：[W1×O3] Reddit/Manscaped 替代社群投放</a:t>
            </a:r>
          </a:p>
          <a:p>
            <a:pPr algn="l"/>
            <a:r>
              <a:rPr sz="950" b="1">
                <a:solidFill>
                  <a:srgbClr val="4A4A4A"/>
                </a:solidFill>
                <a:latin typeface="Microsoft YaHei"/>
              </a:rPr>
              <a:t>⏸ 暫緩：[W5×O1] 母親節女士系列 — 等 Father's Day 跑通</a:t>
            </a:r>
          </a:p>
          <a:p>
            <a:pPr algn="l"/>
            <a:r>
              <a:rPr sz="950" b="1">
                <a:solidFill>
                  <a:srgbClr val="4A4A4A"/>
                </a:solidFill>
                <a:latin typeface="Microsoft YaHei"/>
              </a:rPr>
              <a:t>❌ 放棄：[W2×T2] Body Groomer OBM — Manscaped 主場放棄</a:t>
            </a:r>
          </a:p>
          <a:p>
            <a:pPr algn="l"/>
            <a:r>
              <a:rPr sz="400" b="0">
                <a:solidFill>
                  <a:srgbClr val="4A4A4A"/>
                </a:solidFill>
                <a:latin typeface="Microsoft YaHei"/>
              </a:rPr>
              <a:t/>
            </a:r>
          </a:p>
          <a:p>
            <a:pPr algn="l"/>
            <a:r>
              <a:rPr sz="1000" b="1">
                <a:solidFill>
                  <a:srgbClr val="4A4A4A"/>
                </a:solidFill>
                <a:latin typeface="Microsoft YaHei"/>
              </a:rPr>
              <a:t>KPI 目標 (12 個月)</a:t>
            </a:r>
          </a:p>
          <a:p>
            <a:pPr algn="l"/>
            <a:r>
              <a:rPr sz="950" b="0">
                <a:solidFill>
                  <a:srgbClr val="4A4A4A"/>
                </a:solidFill>
                <a:latin typeface="Microsoft YaHei"/>
              </a:rPr>
              <a:t>• Q2 ROAS 達 4.5+；Beard 類目銷售 +35% YoY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53796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4A4A4A"/>
                </a:solidFill>
                <a:latin typeface="Microsoft YaHei"/>
              </a:rPr>
              <a:t>URBANER × FourSight Lab  |  12/18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日本市場 — BMC 震央：產品導向 (Product-Driven)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C99A3B"/>
                </a:solidFill>
                <a:latin typeface="Microsoft YaHei"/>
              </a:rPr>
              <a:t>ANOVA Top 3 屬性皆為產品規格 (附件 F=2630 / 刻度 F=2412 / 電源 F=1827) → 從產品規格回推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"/>
            <a:ext cx="12191695" cy="45720"/>
          </a:xfrm>
          <a:prstGeom prst="rect">
            <a:avLst/>
          </a:prstGeom>
          <a:solidFill>
            <a:srgbClr val="C9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914400"/>
            <a:ext cx="11612880" cy="548640"/>
          </a:xfrm>
          <a:prstGeom prst="rect">
            <a:avLst/>
          </a:prstGeom>
          <a:solidFill>
            <a:srgbClr val="C9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960120"/>
            <a:ext cx="11430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/>
              </a:rPr>
              <a:t>震央：產品導向 — 日本市場決策深度高，付費關鍵在『刻度精度 / 附件齊全 / 防水 dB 數值』，從產品 → VP → 顧客/通路鏈最有效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600200"/>
            <a:ext cx="2331720" cy="2560320"/>
          </a:xfrm>
          <a:prstGeom prst="rect">
            <a:avLst/>
          </a:prstGeom>
          <a:solidFill>
            <a:srgbClr val="F5F2EC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600200"/>
            <a:ext cx="2331720" cy="292608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" y="1627632"/>
            <a:ext cx="218541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/>
              </a:rPr>
              <a:t>① KP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1929384"/>
            <a:ext cx="2240280" cy="21945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>
            <a:spAutoFit/>
          </a:bodyPr>
          <a:lstStyle/>
          <a:p>
            <a:pPr algn="l"/>
            <a:r>
              <a:rPr sz="850" b="0">
                <a:solidFill>
                  <a:srgbClr val="4A4A4A"/>
                </a:solidFill>
                <a:latin typeface="Microsoft YaHei"/>
              </a:rPr>
              <a:t>• 樂天市場 — 台灣廠商稀缺直營資格</a:t>
            </a:r>
          </a:p>
          <a:p>
            <a:pPr algn="l"/>
            <a:r>
              <a:rPr sz="850" b="0">
                <a:solidFill>
                  <a:srgbClr val="4A4A4A"/>
                </a:solidFill>
                <a:latin typeface="Microsoft YaHei"/>
              </a:rPr>
              <a:t>• Amazon JP (FBA + 鼻毛/鬍鬚類目廣告)</a:t>
            </a:r>
          </a:p>
          <a:p>
            <a:pPr algn="l"/>
            <a:r>
              <a:rPr sz="850" b="0">
                <a:solidFill>
                  <a:srgbClr val="4A4A4A"/>
                </a:solidFill>
                <a:latin typeface="Microsoft YaHei"/>
              </a:rPr>
              <a:t>• 日本物流商 (1日內到貨能力)</a:t>
            </a:r>
          </a:p>
          <a:p>
            <a:pPr algn="l"/>
            <a:r>
              <a:rPr sz="850" b="0">
                <a:solidFill>
                  <a:srgbClr val="4A4A4A"/>
                </a:solidFill>
                <a:latin typeface="Microsoft YaHei"/>
              </a:rPr>
              <a:t>• 群眾募資平台 (Makuake / Green Funding)</a:t>
            </a:r>
          </a:p>
          <a:p>
            <a:pPr algn="l"/>
            <a:r>
              <a:rPr sz="850" b="0">
                <a:solidFill>
                  <a:srgbClr val="4A4A4A"/>
                </a:solidFill>
                <a:latin typeface="Microsoft YaHei"/>
              </a:rPr>
              <a:t>• 跨境官網 urbaner.jp/ja</a:t>
            </a:r>
          </a:p>
          <a:p>
            <a:pPr algn="l"/>
            <a:r>
              <a:rPr sz="850" b="0">
                <a:solidFill>
                  <a:srgbClr val="4A4A4A"/>
                </a:solidFill>
                <a:latin typeface="Microsoft YaHei"/>
              </a:rPr>
              <a:t>• (待補) 理容師/美容クリニック背書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79192" y="1600200"/>
            <a:ext cx="2331720" cy="1243584"/>
          </a:xfrm>
          <a:prstGeom prst="rect">
            <a:avLst/>
          </a:prstGeom>
          <a:solidFill>
            <a:srgbClr val="F5F2EC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679192" y="1600200"/>
            <a:ext cx="2331720" cy="292608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52344" y="1627632"/>
            <a:ext cx="218541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/>
              </a:rPr>
              <a:t>② KA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24912" y="1929384"/>
            <a:ext cx="2240280" cy="87782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>
            <a:spAutoFit/>
          </a:bodyPr>
          <a:lstStyle/>
          <a:p>
            <a:pPr algn="l"/>
            <a:r>
              <a:rPr sz="800" b="0">
                <a:solidFill>
                  <a:srgbClr val="4A4A4A"/>
                </a:solidFill>
                <a:latin typeface="Microsoft YaHei"/>
              </a:rPr>
              <a:t>• 規格『數值化』Listing 文案</a:t>
            </a:r>
          </a:p>
          <a:p>
            <a:pPr algn="l"/>
            <a:r>
              <a:rPr sz="800" b="0">
                <a:solidFill>
                  <a:srgbClr val="4A4A4A"/>
                </a:solidFill>
                <a:latin typeface="Microsoft YaHei"/>
              </a:rPr>
              <a:t>  (附件數/段階/dB/IPX/重量)</a:t>
            </a:r>
          </a:p>
          <a:p>
            <a:pPr algn="l"/>
            <a:r>
              <a:rPr sz="800" b="0">
                <a:solidFill>
                  <a:srgbClr val="4A4A4A"/>
                </a:solidFill>
                <a:latin typeface="Microsoft YaHei"/>
              </a:rPr>
              <a:t>• 父の日 + 年末ギフト檔期經營</a:t>
            </a:r>
          </a:p>
          <a:p>
            <a:pPr algn="l"/>
            <a:r>
              <a:rPr sz="800" b="0">
                <a:solidFill>
                  <a:srgbClr val="4A4A4A"/>
                </a:solidFill>
                <a:latin typeface="Microsoft YaHei"/>
              </a:rPr>
              <a:t>• 消費者教育文章 (note/価格.com)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79192" y="2916936"/>
            <a:ext cx="2331720" cy="1243584"/>
          </a:xfrm>
          <a:prstGeom prst="rect">
            <a:avLst/>
          </a:prstGeom>
          <a:solidFill>
            <a:srgbClr val="F5F2EC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679192" y="2916936"/>
            <a:ext cx="2331720" cy="292608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52344" y="2944368"/>
            <a:ext cx="218541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/>
              </a:rPr>
              <a:t>③ KR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24912" y="3246120"/>
            <a:ext cx="2240280" cy="87782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>
            <a:spAutoFit/>
          </a:bodyPr>
          <a:lstStyle/>
          <a:p>
            <a:pPr algn="l"/>
            <a:r>
              <a:rPr sz="800" b="0">
                <a:solidFill>
                  <a:srgbClr val="4A4A4A"/>
                </a:solidFill>
                <a:latin typeface="Microsoft YaHei"/>
              </a:rPr>
              <a:t>• Hero SKU B0GBWZBMS5 (Nose/Ear)</a:t>
            </a:r>
          </a:p>
          <a:p>
            <a:pPr algn="l"/>
            <a:r>
              <a:rPr sz="800" b="0">
                <a:solidFill>
                  <a:srgbClr val="4A4A4A"/>
                </a:solidFill>
                <a:latin typeface="Microsoft YaHei"/>
              </a:rPr>
              <a:t>• 7,163 則 JP 自有評論</a:t>
            </a:r>
          </a:p>
          <a:p>
            <a:pPr algn="l"/>
            <a:r>
              <a:rPr sz="800" b="0">
                <a:solidFill>
                  <a:srgbClr val="4A4A4A"/>
                </a:solidFill>
                <a:latin typeface="Microsoft YaHei"/>
              </a:rPr>
              <a:t>• 樂天直營資格 (台廠稀缺)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84064" y="1600200"/>
            <a:ext cx="2377440" cy="2560320"/>
          </a:xfrm>
          <a:prstGeom prst="rect">
            <a:avLst/>
          </a:prstGeom>
          <a:solidFill>
            <a:srgbClr val="F5F2EC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84064" y="1600200"/>
            <a:ext cx="2377440" cy="292608"/>
          </a:xfrm>
          <a:prstGeom prst="rect">
            <a:avLst/>
          </a:prstGeom>
          <a:solidFill>
            <a:srgbClr val="C9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57216" y="1627632"/>
            <a:ext cx="223113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/>
              </a:rPr>
              <a:t>④ VP — 日本版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9784" y="1929384"/>
            <a:ext cx="2286000" cy="21945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>
            <a:spAutoFit/>
          </a:bodyPr>
          <a:lstStyle/>
          <a:p>
            <a:pPr algn="l"/>
            <a:r>
              <a:rPr sz="1100" b="1">
                <a:solidFill>
                  <a:srgbClr val="4A4A4A"/>
                </a:solidFill>
                <a:latin typeface="Microsoft YaHei"/>
              </a:rPr>
              <a:t>『精度・耐久・分貝数値化』</a:t>
            </a:r>
          </a:p>
          <a:p>
            <a:pPr algn="l"/>
            <a:r>
              <a:rPr sz="900" b="1">
                <a:solidFill>
                  <a:srgbClr val="4A4A4A"/>
                </a:solidFill>
                <a:latin typeface="Microsoft YaHei"/>
              </a:rPr>
              <a:t>身嗜み × 自然な仕上がり × 丸洗い</a:t>
            </a:r>
          </a:p>
          <a:p>
            <a:pPr algn="l"/>
            <a:r>
              <a:rPr sz="400" b="0">
                <a:solidFill>
                  <a:srgbClr val="4A4A4A"/>
                </a:solidFill>
                <a:latin typeface="Microsoft YaHei"/>
              </a:rPr>
              <a:t/>
            </a:r>
          </a:p>
          <a:p>
            <a:pPr algn="l"/>
            <a:r>
              <a:rPr sz="850" b="0">
                <a:solidFill>
                  <a:srgbClr val="4A4A4A"/>
                </a:solidFill>
                <a:latin typeface="Microsoft YaHei"/>
              </a:rPr>
              <a:t>• アタッチメント 7 個 / 38 段階</a:t>
            </a:r>
          </a:p>
          <a:p>
            <a:pPr algn="l"/>
            <a:r>
              <a:rPr sz="850" b="0">
                <a:solidFill>
                  <a:srgbClr val="4A4A4A"/>
                </a:solidFill>
                <a:latin typeface="Microsoft YaHei"/>
              </a:rPr>
              <a:t>• 0.5mm 単位調整 / IPX7</a:t>
            </a:r>
          </a:p>
          <a:p>
            <a:pPr algn="l"/>
            <a:r>
              <a:rPr sz="850" b="0">
                <a:solidFill>
                  <a:srgbClr val="4A4A4A"/>
                </a:solidFill>
                <a:latin typeface="Microsoft YaHei"/>
              </a:rPr>
              <a:t>• 騒音 50dB 以下 (鼻/耳/嬰兒款)</a:t>
            </a:r>
          </a:p>
          <a:p>
            <a:pPr algn="l"/>
            <a:r>
              <a:rPr sz="850" b="0">
                <a:solidFill>
                  <a:srgbClr val="4A4A4A"/>
                </a:solidFill>
                <a:latin typeface="Microsoft YaHei"/>
              </a:rPr>
              <a:t>• 47 年代工 Panasonic / Philips 經歷</a:t>
            </a:r>
          </a:p>
          <a:p>
            <a:pPr algn="l"/>
            <a:r>
              <a:rPr sz="850" b="0">
                <a:solidFill>
                  <a:srgbClr val="4A4A4A"/>
                </a:solidFill>
                <a:latin typeface="Microsoft YaHei"/>
              </a:rPr>
              <a:t>• 樂天直営正規品 + 1 年保証</a:t>
            </a:r>
          </a:p>
          <a:p>
            <a:pPr algn="l"/>
            <a:r>
              <a:rPr sz="850" b="0">
                <a:solidFill>
                  <a:srgbClr val="4A4A4A"/>
                </a:solidFill>
                <a:latin typeface="Microsoft YaHei"/>
              </a:rPr>
              <a:t>• 父の日 のし対応 + 化粧箱</a:t>
            </a:r>
          </a:p>
          <a:p>
            <a:pPr algn="l"/>
            <a:r>
              <a:rPr sz="850" b="0">
                <a:solidFill>
                  <a:srgbClr val="4A4A4A"/>
                </a:solidFill>
                <a:latin typeface="Microsoft YaHei"/>
              </a:rPr>
              <a:t>• 雙電源策略：乾電池 + 充電並行</a:t>
            </a:r>
          </a:p>
          <a:p>
            <a:pPr algn="l"/>
            <a:r>
              <a:rPr sz="850" b="0">
                <a:solidFill>
                  <a:srgbClr val="4A4A4A"/>
                </a:solidFill>
                <a:latin typeface="Microsoft YaHei"/>
              </a:rPr>
              <a:t>  (Segment 1 仍偏好乾電池)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34656" y="1600200"/>
            <a:ext cx="2331720" cy="1243584"/>
          </a:xfrm>
          <a:prstGeom prst="rect">
            <a:avLst/>
          </a:prstGeom>
          <a:solidFill>
            <a:srgbClr val="F5F2EC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534656" y="1600200"/>
            <a:ext cx="2331720" cy="292608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07808" y="1627632"/>
            <a:ext cx="218541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/>
              </a:rPr>
              <a:t>⑤ CR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0376" y="1929384"/>
            <a:ext cx="2240280" cy="87782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>
            <a:spAutoFit/>
          </a:bodyPr>
          <a:lstStyle/>
          <a:p>
            <a:pPr algn="l"/>
            <a:r>
              <a:rPr sz="800" b="0">
                <a:solidFill>
                  <a:srgbClr val="4A4A4A"/>
                </a:solidFill>
                <a:latin typeface="Microsoft YaHei"/>
              </a:rPr>
              <a:t>• 樂天 1 年保証承諾</a:t>
            </a:r>
          </a:p>
          <a:p>
            <a:pPr algn="l"/>
            <a:r>
              <a:rPr sz="800" b="0">
                <a:solidFill>
                  <a:srgbClr val="4A4A4A"/>
                </a:solidFill>
                <a:latin typeface="Microsoft YaHei"/>
              </a:rPr>
              <a:t>• 跨境官網日文 FAQ</a:t>
            </a:r>
          </a:p>
          <a:p>
            <a:pPr algn="l"/>
            <a:r>
              <a:rPr sz="800" b="0">
                <a:solidFill>
                  <a:srgbClr val="4A4A4A"/>
                </a:solidFill>
                <a:latin typeface="Microsoft YaHei"/>
              </a:rPr>
              <a:t>• 知恵袋常見問題追蹤回應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34656" y="2916936"/>
            <a:ext cx="2331720" cy="1243584"/>
          </a:xfrm>
          <a:prstGeom prst="rect">
            <a:avLst/>
          </a:prstGeom>
          <a:solidFill>
            <a:srgbClr val="F5F2EC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534656" y="2916936"/>
            <a:ext cx="2331720" cy="292608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7808" y="2944368"/>
            <a:ext cx="218541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/>
              </a:rPr>
              <a:t>⑥ 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0376" y="3246120"/>
            <a:ext cx="2240280" cy="87782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>
            <a:spAutoFit/>
          </a:bodyPr>
          <a:lstStyle/>
          <a:p>
            <a:pPr algn="l"/>
            <a:r>
              <a:rPr sz="800" b="0">
                <a:solidFill>
                  <a:srgbClr val="4A4A4A"/>
                </a:solidFill>
                <a:latin typeface="Microsoft YaHei"/>
              </a:rPr>
              <a:t>• Amazon JP — amazon.co.jp/URBANER</a:t>
            </a:r>
          </a:p>
          <a:p>
            <a:pPr algn="l"/>
            <a:r>
              <a:rPr sz="800" b="0">
                <a:solidFill>
                  <a:srgbClr val="4A4A4A"/>
                </a:solidFill>
                <a:latin typeface="Microsoft YaHei"/>
              </a:rPr>
              <a:t>• 樂天市場 (台廠稀缺直營)</a:t>
            </a:r>
          </a:p>
          <a:p>
            <a:pPr algn="l"/>
            <a:r>
              <a:rPr sz="800" b="0">
                <a:solidFill>
                  <a:srgbClr val="4A4A4A"/>
                </a:solidFill>
                <a:latin typeface="Microsoft YaHei"/>
              </a:rPr>
              <a:t>• 跨境官網 + Makuake/Green Funding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939528" y="1600200"/>
            <a:ext cx="2331720" cy="2560320"/>
          </a:xfrm>
          <a:prstGeom prst="rect">
            <a:avLst/>
          </a:prstGeom>
          <a:solidFill>
            <a:srgbClr val="F5F2EC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939528" y="1600200"/>
            <a:ext cx="2331720" cy="292608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12680" y="1627632"/>
            <a:ext cx="218541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/>
              </a:rPr>
              <a:t>⑦ CS — 日本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85248" y="1929384"/>
            <a:ext cx="2240280" cy="21945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>
            <a:spAutoFit/>
          </a:bodyPr>
          <a:lstStyle/>
          <a:p>
            <a:pPr algn="l"/>
            <a:r>
              <a:rPr sz="900" b="1">
                <a:solidFill>
                  <a:srgbClr val="4A4A4A"/>
                </a:solidFill>
                <a:latin typeface="Microsoft YaHei"/>
              </a:rPr>
              <a:t>Segment 1 (91.6%, n=6,559)</a:t>
            </a:r>
          </a:p>
          <a:p>
            <a:pPr algn="l"/>
            <a:r>
              <a:rPr sz="800" b="0">
                <a:solidFill>
                  <a:srgbClr val="4A4A4A"/>
                </a:solidFill>
                <a:latin typeface="Microsoft YaHei"/>
              </a:rPr>
              <a:t>Power Source / 鼻毛 / CP值 / 易用性</a:t>
            </a:r>
          </a:p>
          <a:p>
            <a:pPr algn="l"/>
            <a:r>
              <a:rPr sz="800" b="0">
                <a:solidFill>
                  <a:srgbClr val="4A4A4A"/>
                </a:solidFill>
                <a:latin typeface="Microsoft YaHei"/>
              </a:rPr>
              <a:t>avg★ = 3.46  (大眾市場)</a:t>
            </a:r>
          </a:p>
          <a:p>
            <a:pPr algn="l"/>
            <a:r>
              <a:rPr sz="800" b="0">
                <a:solidFill>
                  <a:srgbClr val="4A4A4A"/>
                </a:solidFill>
                <a:latin typeface="Microsoft YaHei"/>
              </a:rPr>
              <a:t>→ Listing bullet 1 寫電源類型</a:t>
            </a:r>
          </a:p>
          <a:p>
            <a:pPr algn="l"/>
            <a:r>
              <a:rPr sz="400" b="0">
                <a:solidFill>
                  <a:srgbClr val="4A4A4A"/>
                </a:solidFill>
                <a:latin typeface="Microsoft YaHei"/>
              </a:rPr>
              <a:t/>
            </a:r>
          </a:p>
          <a:p>
            <a:pPr algn="l"/>
            <a:r>
              <a:rPr sz="900" b="1">
                <a:solidFill>
                  <a:srgbClr val="4A4A4A"/>
                </a:solidFill>
                <a:latin typeface="Microsoft YaHei"/>
              </a:rPr>
              <a:t>Segment 2 (7.8%, n=561)</a:t>
            </a:r>
          </a:p>
          <a:p>
            <a:pPr algn="l"/>
            <a:r>
              <a:rPr sz="800" b="0">
                <a:solidFill>
                  <a:srgbClr val="4A4A4A"/>
                </a:solidFill>
                <a:latin typeface="Microsoft YaHei"/>
              </a:rPr>
              <a:t>Adjustable Comb / 高 spec 玩家</a:t>
            </a:r>
          </a:p>
          <a:p>
            <a:pPr algn="l"/>
            <a:r>
              <a:rPr sz="800" b="0">
                <a:solidFill>
                  <a:srgbClr val="4A4A4A"/>
                </a:solidFill>
                <a:latin typeface="Microsoft YaHei"/>
              </a:rPr>
              <a:t>avg★ = 4.01 (高滿意度精品客)</a:t>
            </a:r>
          </a:p>
          <a:p>
            <a:pPr algn="l"/>
            <a:r>
              <a:rPr sz="800" b="0">
                <a:solidFill>
                  <a:srgbClr val="4A4A4A"/>
                </a:solidFill>
                <a:latin typeface="Microsoft YaHei"/>
              </a:rPr>
              <a:t>→ Hero SKU 主目標客</a:t>
            </a:r>
          </a:p>
          <a:p>
            <a:pPr algn="l"/>
            <a:r>
              <a:rPr sz="400" b="0">
                <a:solidFill>
                  <a:srgbClr val="4A4A4A"/>
                </a:solidFill>
                <a:latin typeface="Microsoft YaHei"/>
              </a:rPr>
              <a:t/>
            </a:r>
          </a:p>
          <a:p>
            <a:pPr algn="l"/>
            <a:r>
              <a:rPr sz="900" b="1">
                <a:solidFill>
                  <a:srgbClr val="4A4A4A"/>
                </a:solidFill>
                <a:latin typeface="Microsoft YaHei"/>
              </a:rPr>
              <a:t>Segment 3 (0.6%, n=43)</a:t>
            </a:r>
          </a:p>
          <a:p>
            <a:pPr algn="l"/>
            <a:r>
              <a:rPr sz="800" b="0">
                <a:solidFill>
                  <a:srgbClr val="4A4A4A"/>
                </a:solidFill>
                <a:latin typeface="Microsoft YaHei"/>
              </a:rPr>
              <a:t>Vibration / 馬達 RPM 重度玩家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4233672"/>
            <a:ext cx="5769864" cy="1188720"/>
          </a:xfrm>
          <a:prstGeom prst="rect">
            <a:avLst/>
          </a:prstGeom>
          <a:solidFill>
            <a:srgbClr val="F5F2EC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74320" y="4233672"/>
            <a:ext cx="5769864" cy="292608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47472" y="4261104"/>
            <a:ext cx="56235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/>
              </a:rPr>
              <a:t>⑧ 成本結構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0040" y="4562856"/>
            <a:ext cx="5678424" cy="8229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>
            <a:spAutoFit/>
          </a:bodyPr>
          <a:lstStyle/>
          <a:p>
            <a:pPr algn="l"/>
            <a:r>
              <a:rPr sz="800" b="0">
                <a:solidFill>
                  <a:srgbClr val="4A4A4A"/>
                </a:solidFill>
                <a:latin typeface="Microsoft YaHei"/>
              </a:rPr>
              <a:t>• Amazon JP / 樂天平台費 + 廣告 (~20%)</a:t>
            </a:r>
          </a:p>
          <a:p>
            <a:pPr algn="l"/>
            <a:r>
              <a:rPr sz="800" b="0">
                <a:solidFill>
                  <a:srgbClr val="4A4A4A"/>
                </a:solidFill>
                <a:latin typeface="Microsoft YaHei"/>
              </a:rPr>
              <a:t>• 化粧箱 + のし対応 包裝成本 (檔期)</a:t>
            </a:r>
          </a:p>
          <a:p>
            <a:pPr algn="l"/>
            <a:r>
              <a:rPr sz="800" b="0">
                <a:solidFill>
                  <a:srgbClr val="4A4A4A"/>
                </a:solidFill>
                <a:latin typeface="Microsoft YaHei"/>
              </a:rPr>
              <a:t>• 日文在地化 + Note / 価格.com 行銷</a:t>
            </a:r>
          </a:p>
          <a:p>
            <a:pPr algn="l"/>
            <a:r>
              <a:rPr sz="800" b="0">
                <a:solidFill>
                  <a:srgbClr val="4A4A4A"/>
                </a:solidFill>
                <a:latin typeface="Microsoft YaHei"/>
              </a:rPr>
              <a:t>• 日本倉儲 (FBA 樂天倉) + 1日內到貨物流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129784" y="4233672"/>
            <a:ext cx="5769864" cy="1188720"/>
          </a:xfrm>
          <a:prstGeom prst="rect">
            <a:avLst/>
          </a:prstGeom>
          <a:solidFill>
            <a:srgbClr val="F5F2EC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129784" y="4233672"/>
            <a:ext cx="5769864" cy="292608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202936" y="4261104"/>
            <a:ext cx="56235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/>
              </a:rPr>
              <a:t>⑨ 收益流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75504" y="4562856"/>
            <a:ext cx="5678424" cy="8229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>
            <a:spAutoFit/>
          </a:bodyPr>
          <a:lstStyle/>
          <a:p>
            <a:pPr algn="l"/>
            <a:r>
              <a:rPr sz="800" b="0">
                <a:solidFill>
                  <a:srgbClr val="4A4A4A"/>
                </a:solidFill>
                <a:latin typeface="Microsoft YaHei"/>
              </a:rPr>
              <a:t>• 主：Nose/Ear Trimmer 系列 (Hero B0GBWZBMS5)</a:t>
            </a:r>
          </a:p>
          <a:p>
            <a:pPr algn="l"/>
            <a:r>
              <a:rPr sz="800" b="0">
                <a:solidFill>
                  <a:srgbClr val="4A4A4A"/>
                </a:solidFill>
                <a:latin typeface="Microsoft YaHei"/>
              </a:rPr>
              <a:t>• 父の日 (6 月第 3 週日) + 年末ギフト 雙檔期</a:t>
            </a:r>
          </a:p>
          <a:p>
            <a:pPr algn="l"/>
            <a:r>
              <a:rPr sz="800" b="0">
                <a:solidFill>
                  <a:srgbClr val="4A4A4A"/>
                </a:solidFill>
                <a:latin typeface="Microsoft YaHei"/>
              </a:rPr>
              <a:t>• Amazon JP + 樂天市場兩通路同步收入</a:t>
            </a:r>
          </a:p>
          <a:p>
            <a:pPr algn="l"/>
            <a:r>
              <a:rPr sz="800" b="0">
                <a:solidFill>
                  <a:srgbClr val="4A4A4A"/>
                </a:solidFill>
                <a:latin typeface="Microsoft YaHei"/>
              </a:rPr>
              <a:t>• 替換刃頭 × 耗材包 (decision_depth 高 → recurring 強)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653796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4A4A4A"/>
                </a:solidFill>
                <a:latin typeface="Microsoft YaHei"/>
              </a:rPr>
              <a:t>URBANER × FourSight Lab  |  13/18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日本 SWOT — 與 Panasonic / Philips / 日立 / Maxell IZUMI / Royal / Pateker 對比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C99A3B"/>
                </a:solidFill>
                <a:latin typeface="Microsoft YaHei"/>
              </a:rPr>
              <a:t>排除『日本競爭者也有』的項目 (IPX7、丸洗い、附件齊全等共通標配不列入)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"/>
            <a:ext cx="12191695" cy="45720"/>
          </a:xfrm>
          <a:prstGeom prst="rect">
            <a:avLst/>
          </a:prstGeom>
          <a:solidFill>
            <a:srgbClr val="C9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960120"/>
            <a:ext cx="585216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960120"/>
            <a:ext cx="5852160" cy="329184"/>
          </a:xfrm>
          <a:prstGeom prst="rect">
            <a:avLst/>
          </a:prstGeom>
          <a:solidFill>
            <a:srgbClr val="3B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996696"/>
            <a:ext cx="566928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S — 日本優勢 (vs Panasonic/Philips)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1344168"/>
            <a:ext cx="5705856" cy="21488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>
            <a:spAutoFit/>
          </a:bodyPr>
          <a:lstStyle/>
          <a:p>
            <a:pPr algn="l"/>
            <a:r>
              <a:rPr sz="1000" b="1">
                <a:solidFill>
                  <a:srgbClr val="4A4A4A"/>
                </a:solidFill>
                <a:latin typeface="Microsoft YaHei"/>
              </a:rPr>
              <a:t>S1  樂天直営正規品資格 (台廠稀缺)</a:t>
            </a:r>
          </a:p>
          <a:p>
            <a:pPr algn="l"/>
            <a:r>
              <a:rPr sz="850" b="0">
                <a:solidFill>
                  <a:srgbClr val="4A4A4A"/>
                </a:solidFill>
                <a:latin typeface="Microsoft YaHei"/>
              </a:rPr>
              <a:t>    Wahl/ANGFAN/Pateker 多無此資格、Panasonic 自有</a:t>
            </a:r>
          </a:p>
          <a:p>
            <a:pPr algn="l"/>
            <a:r>
              <a:rPr sz="1000" b="1">
                <a:solidFill>
                  <a:srgbClr val="4A4A4A"/>
                </a:solidFill>
                <a:latin typeface="Microsoft YaHei"/>
              </a:rPr>
              <a:t>S2  47 年代工日本品牌經歷 (含 Panasonic)</a:t>
            </a:r>
          </a:p>
          <a:p>
            <a:pPr algn="l"/>
            <a:r>
              <a:rPr sz="850" b="0">
                <a:solidFill>
                  <a:srgbClr val="4A4A4A"/>
                </a:solidFill>
                <a:latin typeface="Microsoft YaHei"/>
              </a:rPr>
              <a:t>    可說『同樣的工藝、自有品牌』的故事</a:t>
            </a:r>
          </a:p>
          <a:p>
            <a:pPr algn="l"/>
            <a:r>
              <a:rPr sz="1000" b="1">
                <a:solidFill>
                  <a:srgbClr val="4A4A4A"/>
                </a:solidFill>
                <a:latin typeface="Microsoft YaHei"/>
              </a:rPr>
              <a:t>S3  Hero SKU B0GBWZBMS5 已成形</a:t>
            </a:r>
          </a:p>
          <a:p>
            <a:pPr algn="l"/>
            <a:r>
              <a:rPr sz="850" b="0">
                <a:solidFill>
                  <a:srgbClr val="4A4A4A"/>
                </a:solidFill>
                <a:latin typeface="Microsoft YaHei"/>
              </a:rPr>
              <a:t>    距理想點 1.97；7,163 則 JP 評論底量</a:t>
            </a:r>
          </a:p>
          <a:p>
            <a:pPr algn="l"/>
            <a:r>
              <a:rPr sz="1000" b="1">
                <a:solidFill>
                  <a:srgbClr val="4A4A4A"/>
                </a:solidFill>
                <a:latin typeface="Microsoft YaHei"/>
              </a:rPr>
              <a:t>S4  雙電源策略 (乾電池 + 充電並行)</a:t>
            </a:r>
          </a:p>
          <a:p>
            <a:pPr algn="l"/>
            <a:r>
              <a:rPr sz="850" b="0">
                <a:solidFill>
                  <a:srgbClr val="4A4A4A"/>
                </a:solidFill>
                <a:latin typeface="Microsoft YaHei"/>
              </a:rPr>
              <a:t>    Segment 1 仍偏好乾電池；多數品牌已強制充電化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45352" y="960120"/>
            <a:ext cx="585216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45352" y="960120"/>
            <a:ext cx="5852160" cy="329184"/>
          </a:xfrm>
          <a:prstGeom prst="rect">
            <a:avLst/>
          </a:prstGeom>
          <a:solidFill>
            <a:srgbClr val="B8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36792" y="996696"/>
            <a:ext cx="566928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W — 日本劣勢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18504" y="1344168"/>
            <a:ext cx="5705856" cy="21488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>
            <a:spAutoFit/>
          </a:bodyPr>
          <a:lstStyle/>
          <a:p>
            <a:pPr algn="l"/>
            <a:r>
              <a:rPr sz="1000" b="1">
                <a:solidFill>
                  <a:srgbClr val="4A4A4A"/>
                </a:solidFill>
                <a:latin typeface="Microsoft YaHei"/>
              </a:rPr>
              <a:t>W1  品牌知名度遠低於 Panasonic / 日立 / 皇家</a:t>
            </a:r>
          </a:p>
          <a:p>
            <a:pPr algn="l"/>
            <a:r>
              <a:rPr sz="850" b="0">
                <a:solidFill>
                  <a:srgbClr val="4A4A4A"/>
                </a:solidFill>
                <a:latin typeface="Microsoft YaHei"/>
              </a:rPr>
              <a:t>    マイベスト / 価格.com / kakaku 排名缺席</a:t>
            </a:r>
          </a:p>
          <a:p>
            <a:pPr algn="l"/>
            <a:r>
              <a:rPr sz="1000" b="1">
                <a:solidFill>
                  <a:srgbClr val="4A4A4A"/>
                </a:solidFill>
                <a:latin typeface="Microsoft YaHei"/>
              </a:rPr>
              <a:t>W2  缺『理容師監修 / 医療クリニック共同開発』背書</a:t>
            </a:r>
          </a:p>
          <a:p>
            <a:pPr algn="l"/>
            <a:r>
              <a:rPr sz="850" b="0">
                <a:solidFill>
                  <a:srgbClr val="4A4A4A"/>
                </a:solidFill>
                <a:latin typeface="Microsoft YaHei"/>
              </a:rPr>
              <a:t>    Panasonic ER-WF41 醫療指定、Rozally 理容師監修</a:t>
            </a:r>
          </a:p>
          <a:p>
            <a:pPr algn="l"/>
            <a:r>
              <a:rPr sz="1000" b="1">
                <a:solidFill>
                  <a:srgbClr val="4A4A4A"/>
                </a:solidFill>
                <a:latin typeface="Microsoft YaHei"/>
              </a:rPr>
              <a:t>W3  電視/家電量販店通路 (ヨドバシ/ビックカメラ) 缺席</a:t>
            </a:r>
          </a:p>
          <a:p>
            <a:pPr algn="l"/>
            <a:r>
              <a:rPr sz="850" b="0">
                <a:solidFill>
                  <a:srgbClr val="4A4A4A"/>
                </a:solidFill>
                <a:latin typeface="Microsoft YaHei"/>
              </a:rPr>
              <a:t>    Panasonic 線下展示 + 試用體驗難以對抗</a:t>
            </a:r>
          </a:p>
          <a:p>
            <a:pPr algn="l"/>
            <a:r>
              <a:rPr sz="1000" b="1">
                <a:solidFill>
                  <a:srgbClr val="4A4A4A"/>
                </a:solidFill>
                <a:latin typeface="Microsoft YaHei"/>
              </a:rPr>
              <a:t>W4  Foil Shaver 品類缺席</a:t>
            </a:r>
          </a:p>
          <a:p>
            <a:pPr algn="l"/>
            <a:r>
              <a:rPr sz="850" b="0">
                <a:solidFill>
                  <a:srgbClr val="4A4A4A"/>
                </a:solidFill>
                <a:latin typeface="Microsoft YaHei"/>
              </a:rPr>
              <a:t>    Panasonic Lambdash + Braun 9 雙佔</a:t>
            </a:r>
          </a:p>
          <a:p>
            <a:pPr algn="l"/>
            <a:r>
              <a:rPr sz="1000" b="1">
                <a:solidFill>
                  <a:srgbClr val="4A4A4A"/>
                </a:solidFill>
                <a:latin typeface="Microsoft YaHei"/>
              </a:rPr>
              <a:t>W5  日文 SNS / Note / Twitter 經營弱</a:t>
            </a:r>
          </a:p>
          <a:p>
            <a:pPr algn="l"/>
            <a:r>
              <a:rPr sz="850" b="0">
                <a:solidFill>
                  <a:srgbClr val="4A4A4A"/>
                </a:solidFill>
                <a:latin typeface="Microsoft YaHei"/>
              </a:rPr>
              <a:t>    口碑擴散通路缺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657600"/>
            <a:ext cx="585216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3657600"/>
            <a:ext cx="5852160" cy="329184"/>
          </a:xfrm>
          <a:prstGeom prst="rect">
            <a:avLst/>
          </a:prstGeom>
          <a:solidFill>
            <a:srgbClr val="356E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3694176"/>
            <a:ext cx="566928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O — 日本機會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" y="4041648"/>
            <a:ext cx="5705856" cy="21488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>
            <a:spAutoFit/>
          </a:bodyPr>
          <a:lstStyle/>
          <a:p>
            <a:pPr algn="l"/>
            <a:r>
              <a:rPr sz="1000" b="1">
                <a:solidFill>
                  <a:srgbClr val="4A4A4A"/>
                </a:solidFill>
                <a:latin typeface="Microsoft YaHei"/>
              </a:rPr>
              <a:t>O1  鼻毛電剪市場仍由 IZUMI / 皇家分食 (Maybest #1 IZUMI)</a:t>
            </a:r>
          </a:p>
          <a:p>
            <a:pPr algn="l"/>
            <a:r>
              <a:rPr sz="850" b="0">
                <a:solidFill>
                  <a:srgbClr val="4A4A4A"/>
                </a:solidFill>
                <a:latin typeface="Microsoft YaHei"/>
              </a:rPr>
              <a:t>    Panasonic ER-GN71 高價區可由 URBANER 中價切入</a:t>
            </a:r>
          </a:p>
          <a:p>
            <a:pPr algn="l"/>
            <a:r>
              <a:rPr sz="1000" b="1">
                <a:solidFill>
                  <a:srgbClr val="4A4A4A"/>
                </a:solidFill>
                <a:latin typeface="Microsoft YaHei"/>
              </a:rPr>
              <a:t>O2  父の日 (6/15) + 年末ギフト + 中元御中元</a:t>
            </a:r>
          </a:p>
          <a:p>
            <a:pPr algn="l"/>
            <a:r>
              <a:rPr sz="850" b="0">
                <a:solidFill>
                  <a:srgbClr val="4A4A4A"/>
                </a:solidFill>
                <a:latin typeface="Microsoft YaHei"/>
              </a:rPr>
              <a:t>    のし対応 是日本特有禮品文化、URBANER 已具備</a:t>
            </a:r>
          </a:p>
          <a:p>
            <a:pPr algn="l"/>
            <a:r>
              <a:rPr sz="1000" b="1">
                <a:solidFill>
                  <a:srgbClr val="4A4A4A"/>
                </a:solidFill>
                <a:latin typeface="Microsoft YaHei"/>
              </a:rPr>
              <a:t>O3  靜音 (38dB→50dB→60dB 競爭) 全品類趨勢</a:t>
            </a:r>
          </a:p>
          <a:p>
            <a:pPr algn="l"/>
            <a:r>
              <a:rPr sz="850" b="0">
                <a:solidFill>
                  <a:srgbClr val="4A4A4A"/>
                </a:solidFill>
                <a:latin typeface="Microsoft YaHei"/>
              </a:rPr>
              <a:t>    URBANER 可用 dB 數値化切入</a:t>
            </a:r>
          </a:p>
          <a:p>
            <a:pPr algn="l"/>
            <a:r>
              <a:rPr sz="1000" b="1">
                <a:solidFill>
                  <a:srgbClr val="4A4A4A"/>
                </a:solidFill>
                <a:latin typeface="Microsoft YaHei"/>
              </a:rPr>
              <a:t>O4  日本顧客『専門家監修』偏好強</a:t>
            </a:r>
          </a:p>
          <a:p>
            <a:pPr algn="l"/>
            <a:r>
              <a:rPr sz="850" b="0">
                <a:solidFill>
                  <a:srgbClr val="4A4A4A"/>
                </a:solidFill>
                <a:latin typeface="Microsoft YaHei"/>
              </a:rPr>
              <a:t>    與獸醫/理容師合作仍有空間</a:t>
            </a:r>
          </a:p>
          <a:p>
            <a:pPr algn="l"/>
            <a:r>
              <a:rPr sz="1000" b="1">
                <a:solidFill>
                  <a:srgbClr val="4A4A4A"/>
                </a:solidFill>
                <a:latin typeface="Microsoft YaHei"/>
              </a:rPr>
              <a:t>O5  Maxell IZUMI 寡佔鼻毛市場、Panasonic 高價空缺</a:t>
            </a:r>
          </a:p>
          <a:p>
            <a:pPr algn="l"/>
            <a:r>
              <a:rPr sz="850" b="0">
                <a:solidFill>
                  <a:srgbClr val="4A4A4A"/>
                </a:solidFill>
                <a:latin typeface="Microsoft YaHei"/>
              </a:rPr>
              <a:t>    URBANER B0GBWZBMS5 中價精品切入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45352" y="3657600"/>
            <a:ext cx="585216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45352" y="3657600"/>
            <a:ext cx="5852160" cy="329184"/>
          </a:xfrm>
          <a:prstGeom prst="rect">
            <a:avLst/>
          </a:prstGeom>
          <a:solidFill>
            <a:srgbClr val="D48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3694176"/>
            <a:ext cx="566928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T — 日本威脅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18504" y="4041648"/>
            <a:ext cx="5705856" cy="21488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>
            <a:spAutoFit/>
          </a:bodyPr>
          <a:lstStyle/>
          <a:p>
            <a:pPr algn="l"/>
            <a:r>
              <a:rPr sz="1000" b="1">
                <a:solidFill>
                  <a:srgbClr val="4A4A4A"/>
                </a:solidFill>
                <a:latin typeface="Microsoft YaHei"/>
              </a:rPr>
              <a:t>T1  Panasonic 全品類絕對王者 + 廣告碾壓</a:t>
            </a:r>
          </a:p>
          <a:p>
            <a:pPr algn="l"/>
            <a:r>
              <a:rPr sz="850" b="0">
                <a:solidFill>
                  <a:srgbClr val="4A4A4A"/>
                </a:solidFill>
                <a:latin typeface="Microsoft YaHei"/>
              </a:rPr>
              <a:t>    通路 + 媒體聲量無法對抗</a:t>
            </a:r>
          </a:p>
          <a:p>
            <a:pPr algn="l"/>
            <a:r>
              <a:rPr sz="1000" b="1">
                <a:solidFill>
                  <a:srgbClr val="4A4A4A"/>
                </a:solidFill>
                <a:latin typeface="Microsoft YaHei"/>
              </a:rPr>
              <a:t>T2  日圓持續貶值 (對台幣換匯不利)</a:t>
            </a:r>
          </a:p>
          <a:p>
            <a:pPr algn="l"/>
            <a:r>
              <a:rPr sz="850" b="0">
                <a:solidFill>
                  <a:srgbClr val="4A4A4A"/>
                </a:solidFill>
                <a:latin typeface="Microsoft YaHei"/>
              </a:rPr>
              <a:t>    壓縮跨境利潤</a:t>
            </a:r>
          </a:p>
          <a:p>
            <a:pPr algn="l"/>
            <a:r>
              <a:rPr sz="1000" b="1">
                <a:solidFill>
                  <a:srgbClr val="4A4A4A"/>
                </a:solidFill>
                <a:latin typeface="Microsoft YaHei"/>
              </a:rPr>
              <a:t>T3  日本消費者『一機長用』文化 → 替換週期長</a:t>
            </a:r>
          </a:p>
          <a:p>
            <a:pPr algn="l"/>
            <a:r>
              <a:rPr sz="850" b="0">
                <a:solidFill>
                  <a:srgbClr val="4A4A4A"/>
                </a:solidFill>
                <a:latin typeface="Microsoft YaHei"/>
              </a:rPr>
              <a:t>    NPI 創新節奏壓力</a:t>
            </a:r>
          </a:p>
          <a:p>
            <a:pPr algn="l"/>
            <a:r>
              <a:rPr sz="1000" b="1">
                <a:solidFill>
                  <a:srgbClr val="4A4A4A"/>
                </a:solidFill>
                <a:latin typeface="Microsoft YaHei"/>
              </a:rPr>
              <a:t>T4  Pateker 寵物電剪日本 No.1、URBANER 難切入</a:t>
            </a:r>
          </a:p>
          <a:p>
            <a:pPr algn="l"/>
            <a:r>
              <a:rPr sz="850" b="0">
                <a:solidFill>
                  <a:srgbClr val="4A4A4A"/>
                </a:solidFill>
                <a:latin typeface="Microsoft YaHei"/>
              </a:rPr>
              <a:t>    『20年プロトリマー推薦』口碑深厚</a:t>
            </a:r>
          </a:p>
          <a:p>
            <a:pPr algn="l"/>
            <a:r>
              <a:rPr sz="1000" b="1">
                <a:solidFill>
                  <a:srgbClr val="4A4A4A"/>
                </a:solidFill>
                <a:latin typeface="Microsoft YaHei"/>
              </a:rPr>
              <a:t>T5  價格.com 比較文化 — 規格不夠強會被秒淘汰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53796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4A4A4A"/>
                </a:solidFill>
                <a:latin typeface="Microsoft YaHei"/>
              </a:rPr>
              <a:t>URBANER × FourSight Lab  |  14/18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日本 SWOT 策略碰撞 — TOWS 矩陣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C99A3B"/>
                </a:solidFill>
                <a:latin typeface="Microsoft YaHei"/>
              </a:rPr>
              <a:t>態勢：S&lt;W (Panasonic 強勢) × O&gt;T (機會仍多) → 主象限：WO 策略聯盟 (補強再進攻)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"/>
            <a:ext cx="12191695" cy="45720"/>
          </a:xfrm>
          <a:prstGeom prst="rect">
            <a:avLst/>
          </a:prstGeom>
          <a:solidFill>
            <a:srgbClr val="C9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960120"/>
            <a:ext cx="585216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960120"/>
            <a:ext cx="5852160" cy="329184"/>
          </a:xfrm>
          <a:prstGeom prst="rect">
            <a:avLst/>
          </a:prstGeom>
          <a:solidFill>
            <a:srgbClr val="3B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996696"/>
            <a:ext cx="566928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SO — 乘勝追擊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1344168"/>
            <a:ext cx="5705856" cy="21488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>
            <a:spAutoFit/>
          </a:bodyPr>
          <a:lstStyle/>
          <a:p>
            <a:pPr algn="l"/>
            <a:r>
              <a:rPr sz="950" b="1">
                <a:solidFill>
                  <a:srgbClr val="4A4A4A"/>
                </a:solidFill>
                <a:latin typeface="Microsoft YaHei"/>
              </a:rPr>
              <a:t>[S1×O2] 樂天直営 × 父の日 のし対応 + 化粧箱 ★ 已可立即執行</a:t>
            </a:r>
          </a:p>
          <a:p>
            <a:pPr algn="l"/>
            <a:r>
              <a:rPr sz="950" b="1">
                <a:solidFill>
                  <a:srgbClr val="4A4A4A"/>
                </a:solidFill>
                <a:latin typeface="Microsoft YaHei"/>
              </a:rPr>
              <a:t>[S2×O5] 47年代工故事 + Hero SKU 中價精品切入</a:t>
            </a:r>
          </a:p>
          <a:p>
            <a:pPr algn="l"/>
            <a:r>
              <a:rPr sz="850" b="0">
                <a:solidFill>
                  <a:srgbClr val="4A4A4A"/>
                </a:solidFill>
                <a:latin typeface="Microsoft YaHei"/>
              </a:rPr>
              <a:t>        鼻毛市場 IZUMI #1 與 Panasonic 高價之間</a:t>
            </a:r>
          </a:p>
          <a:p>
            <a:pPr algn="l"/>
            <a:r>
              <a:rPr sz="950" b="1">
                <a:solidFill>
                  <a:srgbClr val="4A4A4A"/>
                </a:solidFill>
                <a:latin typeface="Microsoft YaHei"/>
              </a:rPr>
              <a:t>[S3×O3] B0GBWZBMS5 加 dB 數値化 (50dB 以下)</a:t>
            </a:r>
          </a:p>
          <a:p>
            <a:pPr algn="l"/>
            <a:r>
              <a:rPr sz="850" b="0">
                <a:solidFill>
                  <a:srgbClr val="4A4A4A"/>
                </a:solidFill>
                <a:latin typeface="Microsoft YaHei"/>
              </a:rPr>
              <a:t>        靜音切入點</a:t>
            </a:r>
          </a:p>
          <a:p>
            <a:pPr algn="l"/>
            <a:r>
              <a:rPr sz="950" b="1">
                <a:solidFill>
                  <a:srgbClr val="4A4A4A"/>
                </a:solidFill>
                <a:latin typeface="Microsoft YaHei"/>
              </a:rPr>
              <a:t>[S4×O1] 雙電源策略 — 同款保留乾電池版</a:t>
            </a:r>
          </a:p>
          <a:p>
            <a:pPr algn="l"/>
            <a:r>
              <a:rPr sz="850" b="0">
                <a:solidFill>
                  <a:srgbClr val="4A4A4A"/>
                </a:solidFill>
                <a:latin typeface="Microsoft YaHei"/>
              </a:rPr>
              <a:t>        守住 Segment 1 (91.6%) 大眾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45352" y="960120"/>
            <a:ext cx="585216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45352" y="960120"/>
            <a:ext cx="5852160" cy="329184"/>
          </a:xfrm>
          <a:prstGeom prst="rect">
            <a:avLst/>
          </a:prstGeom>
          <a:solidFill>
            <a:srgbClr val="D48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36792" y="996696"/>
            <a:ext cx="566928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ST — 守株待兔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18504" y="1344168"/>
            <a:ext cx="5705856" cy="21488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>
            <a:spAutoFit/>
          </a:bodyPr>
          <a:lstStyle/>
          <a:p>
            <a:pPr algn="l"/>
            <a:r>
              <a:rPr sz="950" b="1">
                <a:solidFill>
                  <a:srgbClr val="4A4A4A"/>
                </a:solidFill>
                <a:latin typeface="Microsoft YaHei"/>
              </a:rPr>
              <a:t>[S1×T2] 樂天直営定價以日圓計、避匯損波動</a:t>
            </a:r>
          </a:p>
          <a:p>
            <a:pPr algn="l"/>
            <a:r>
              <a:rPr sz="850" b="0">
                <a:solidFill>
                  <a:srgbClr val="4A4A4A"/>
                </a:solidFill>
                <a:latin typeface="Microsoft YaHei"/>
              </a:rPr>
              <a:t>        綁定 1 年保証做價格錨定</a:t>
            </a:r>
          </a:p>
          <a:p>
            <a:pPr algn="l"/>
            <a:r>
              <a:rPr sz="950" b="1">
                <a:solidFill>
                  <a:srgbClr val="4A4A4A"/>
                </a:solidFill>
                <a:latin typeface="Microsoft YaHei"/>
              </a:rPr>
              <a:t>[S2×T1] 用『Panasonic 同源工藝』故事</a:t>
            </a:r>
          </a:p>
          <a:p>
            <a:pPr algn="l"/>
            <a:r>
              <a:rPr sz="850" b="0">
                <a:solidFill>
                  <a:srgbClr val="4A4A4A"/>
                </a:solidFill>
                <a:latin typeface="Microsoft YaHei"/>
              </a:rPr>
              <a:t>        把劣勢轉成『同等品質、更合理價格』</a:t>
            </a:r>
          </a:p>
          <a:p>
            <a:pPr algn="l"/>
            <a:r>
              <a:rPr sz="950" b="1">
                <a:solidFill>
                  <a:srgbClr val="4A4A4A"/>
                </a:solidFill>
                <a:latin typeface="Microsoft YaHei"/>
              </a:rPr>
              <a:t>[S3×T5] Listing 規格表直接對標 ER-GN71、IZN-C240-K</a:t>
            </a:r>
          </a:p>
          <a:p>
            <a:pPr algn="l"/>
            <a:r>
              <a:rPr sz="850" b="0">
                <a:solidFill>
                  <a:srgbClr val="4A4A4A"/>
                </a:solidFill>
                <a:latin typeface="Microsoft YaHei"/>
              </a:rPr>
              <a:t>        在価格.com 比較文化中正面對決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657600"/>
            <a:ext cx="585216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3657600"/>
            <a:ext cx="5852160" cy="329184"/>
          </a:xfrm>
          <a:prstGeom prst="rect">
            <a:avLst/>
          </a:prstGeom>
          <a:solidFill>
            <a:srgbClr val="356E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3694176"/>
            <a:ext cx="566928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WO 日本主象限 — 策略聯盟 (補強再進攻)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" y="4041648"/>
            <a:ext cx="5705856" cy="21488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>
            <a:spAutoFit/>
          </a:bodyPr>
          <a:lstStyle/>
          <a:p>
            <a:pPr algn="l"/>
            <a:r>
              <a:rPr sz="950" b="1">
                <a:solidFill>
                  <a:srgbClr val="4A4A4A"/>
                </a:solidFill>
                <a:latin typeface="Microsoft YaHei"/>
              </a:rPr>
              <a:t>[W2×O4] 與獸醫/理容師合作做『専門家監修』背書 ★ 主策略候選</a:t>
            </a:r>
          </a:p>
          <a:p>
            <a:pPr algn="l"/>
            <a:r>
              <a:rPr sz="850" b="0">
                <a:solidFill>
                  <a:srgbClr val="4A4A4A"/>
                </a:solidFill>
                <a:latin typeface="Microsoft YaHei"/>
              </a:rPr>
              <a:t>        補 W2 弱點、抓 O4 文化偏好</a:t>
            </a:r>
          </a:p>
          <a:p>
            <a:pPr algn="l"/>
            <a:r>
              <a:rPr sz="950" b="1">
                <a:solidFill>
                  <a:srgbClr val="4A4A4A"/>
                </a:solidFill>
                <a:latin typeface="Microsoft YaHei"/>
              </a:rPr>
              <a:t>[W5×O3] 經營 note / Twitter / マイベスト 投稿</a:t>
            </a:r>
          </a:p>
          <a:p>
            <a:pPr algn="l"/>
            <a:r>
              <a:rPr sz="850" b="0">
                <a:solidFill>
                  <a:srgbClr val="4A4A4A"/>
                </a:solidFill>
                <a:latin typeface="Microsoft YaHei"/>
              </a:rPr>
              <a:t>        圍繞『靜音 38dB』『丸洗い』議題</a:t>
            </a:r>
          </a:p>
          <a:p>
            <a:pPr algn="l"/>
            <a:r>
              <a:rPr sz="950" b="1">
                <a:solidFill>
                  <a:srgbClr val="4A4A4A"/>
                </a:solidFill>
                <a:latin typeface="Microsoft YaHei"/>
              </a:rPr>
              <a:t>[W1×O2] 父の日 + 年末ギフト 集中投放廣告</a:t>
            </a:r>
          </a:p>
          <a:p>
            <a:pPr algn="l"/>
            <a:r>
              <a:rPr sz="850" b="0">
                <a:solidFill>
                  <a:srgbClr val="4A4A4A"/>
                </a:solidFill>
                <a:latin typeface="Microsoft YaHei"/>
              </a:rPr>
              <a:t>        以節慶節點滲透市場心智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45352" y="3657600"/>
            <a:ext cx="585216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45352" y="3657600"/>
            <a:ext cx="5852160" cy="329184"/>
          </a:xfrm>
          <a:prstGeom prst="rect">
            <a:avLst/>
          </a:prstGeom>
          <a:solidFill>
            <a:srgbClr val="B8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3694176"/>
            <a:ext cx="566928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WT — 退守/避險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18504" y="4041648"/>
            <a:ext cx="5705856" cy="21488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>
            <a:spAutoFit/>
          </a:bodyPr>
          <a:lstStyle/>
          <a:p>
            <a:pPr algn="l"/>
            <a:r>
              <a:rPr sz="950" b="1">
                <a:solidFill>
                  <a:srgbClr val="4A4A4A"/>
                </a:solidFill>
                <a:latin typeface="Microsoft YaHei"/>
              </a:rPr>
              <a:t>[W3×T1] 暫不投線下 (ヨドバシ等)、全力線上</a:t>
            </a:r>
          </a:p>
          <a:p>
            <a:pPr algn="l"/>
            <a:r>
              <a:rPr sz="850" b="0">
                <a:solidFill>
                  <a:srgbClr val="4A4A4A"/>
                </a:solidFill>
                <a:latin typeface="Microsoft YaHei"/>
              </a:rPr>
              <a:t>        避開 Panasonic 通路深度</a:t>
            </a:r>
          </a:p>
          <a:p>
            <a:pPr algn="l"/>
            <a:r>
              <a:rPr sz="950" b="1">
                <a:solidFill>
                  <a:srgbClr val="4A4A4A"/>
                </a:solidFill>
                <a:latin typeface="Microsoft YaHei"/>
              </a:rPr>
              <a:t>[W4×T1] Foil Shaver 不投自有品牌</a:t>
            </a:r>
          </a:p>
          <a:p>
            <a:pPr algn="l"/>
            <a:r>
              <a:rPr sz="850" b="0">
                <a:solidFill>
                  <a:srgbClr val="4A4A4A"/>
                </a:solidFill>
                <a:latin typeface="Microsoft YaHei"/>
              </a:rPr>
              <a:t>        改為純 OEM 接單，保留產線</a:t>
            </a:r>
          </a:p>
          <a:p>
            <a:pPr algn="l"/>
            <a:r>
              <a:rPr sz="950" b="1">
                <a:solidFill>
                  <a:srgbClr val="4A4A4A"/>
                </a:solidFill>
                <a:latin typeface="Microsoft YaHei"/>
              </a:rPr>
              <a:t>[W1×T3] 縮短新品週期、每 12 個月推 1 款 Hero</a:t>
            </a:r>
          </a:p>
          <a:p>
            <a:pPr algn="l"/>
            <a:r>
              <a:rPr sz="850" b="0">
                <a:solidFill>
                  <a:srgbClr val="4A4A4A"/>
                </a:solidFill>
                <a:latin typeface="Microsoft YaHei"/>
              </a:rPr>
              <a:t>        對抗『一機長用』替換週期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53796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4A4A4A"/>
                </a:solidFill>
                <a:latin typeface="Microsoft YaHei"/>
              </a:rPr>
              <a:t>URBANER × FourSight Lab  |  15/18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日本 — 策略定調卡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C99A3B"/>
                </a:solidFill>
                <a:latin typeface="Microsoft YaHei"/>
              </a:rPr>
              <a:t>態勢 W&gt;S × O&gt;T → WO 策略聯盟 → 主策略：『専門家監修 × 樂天直営』雙保險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"/>
            <a:ext cx="12191695" cy="45720"/>
          </a:xfrm>
          <a:prstGeom prst="rect">
            <a:avLst/>
          </a:prstGeom>
          <a:solidFill>
            <a:srgbClr val="C9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914400"/>
            <a:ext cx="5852160" cy="5486400"/>
          </a:xfrm>
          <a:prstGeom prst="rect">
            <a:avLst/>
          </a:prstGeom>
          <a:solidFill>
            <a:srgbClr val="F5F2EC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005840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B2E4F"/>
                </a:solidFill>
                <a:latin typeface="Microsoft YaHei"/>
              </a:rPr>
              <a:t>日本候選策略評分 (主象限 WO)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5486400" cy="4937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>
            <a:spAutoFit/>
          </a:bodyPr>
          <a:lstStyle/>
          <a:p>
            <a:pPr algn="l"/>
            <a:r>
              <a:rPr sz="1050" b="1">
                <a:solidFill>
                  <a:srgbClr val="4A4A4A"/>
                </a:solidFill>
                <a:latin typeface="Microsoft YaHei"/>
              </a:rPr>
              <a:t>[W2×O4]  専門家監修 × Hero SKU</a:t>
            </a:r>
          </a:p>
          <a:p>
            <a:pPr algn="l"/>
            <a:r>
              <a:rPr sz="900" b="0">
                <a:solidFill>
                  <a:srgbClr val="4A4A4A"/>
                </a:solidFill>
                <a:latin typeface="Microsoft YaHei"/>
              </a:rPr>
              <a:t>    可行性 2 / 影響力 3 / 時效性 3 = 8 分 ★ 最高分</a:t>
            </a:r>
          </a:p>
          <a:p>
            <a:pPr algn="l"/>
            <a:r>
              <a:rPr sz="900" b="0">
                <a:solidFill>
                  <a:srgbClr val="4A4A4A"/>
                </a:solidFill>
                <a:latin typeface="Microsoft YaHei"/>
              </a:rPr>
              <a:t>    (找 1-2 位理容師/美容師合作即可啟動)</a:t>
            </a:r>
          </a:p>
          <a:p>
            <a:pPr algn="l"/>
            <a:r>
              <a:rPr sz="500" b="0">
                <a:solidFill>
                  <a:srgbClr val="4A4A4A"/>
                </a:solidFill>
                <a:latin typeface="Microsoft YaHei"/>
              </a:rPr>
              <a:t/>
            </a:r>
          </a:p>
          <a:p>
            <a:pPr algn="l"/>
            <a:r>
              <a:rPr sz="1050" b="1">
                <a:solidFill>
                  <a:srgbClr val="4A4A4A"/>
                </a:solidFill>
                <a:latin typeface="Microsoft YaHei"/>
              </a:rPr>
              <a:t>[W5×O3]  靜音 38dB note/Twitter 社群操作</a:t>
            </a:r>
          </a:p>
          <a:p>
            <a:pPr algn="l"/>
            <a:r>
              <a:rPr sz="900" b="0">
                <a:solidFill>
                  <a:srgbClr val="4A4A4A"/>
                </a:solidFill>
                <a:latin typeface="Microsoft YaHei"/>
              </a:rPr>
              <a:t>    可行性 3 / 影響力 2 / 時效性 2 = 7 分</a:t>
            </a:r>
          </a:p>
          <a:p>
            <a:pPr algn="l"/>
            <a:r>
              <a:rPr sz="500" b="0">
                <a:solidFill>
                  <a:srgbClr val="4A4A4A"/>
                </a:solidFill>
                <a:latin typeface="Microsoft YaHei"/>
              </a:rPr>
              <a:t/>
            </a:r>
          </a:p>
          <a:p>
            <a:pPr algn="l"/>
            <a:r>
              <a:rPr sz="1050" b="1">
                <a:solidFill>
                  <a:srgbClr val="4A4A4A"/>
                </a:solidFill>
                <a:latin typeface="Microsoft YaHei"/>
              </a:rPr>
              <a:t>[W1×O2]  父の日 + 年末ギフト 集中投放</a:t>
            </a:r>
          </a:p>
          <a:p>
            <a:pPr algn="l"/>
            <a:r>
              <a:rPr sz="900" b="0">
                <a:solidFill>
                  <a:srgbClr val="4A4A4A"/>
                </a:solidFill>
                <a:latin typeface="Microsoft YaHei"/>
              </a:rPr>
              <a:t>    可行性 3 / 影響力 2 / 時效性 3 = 8 分 (支援用)</a:t>
            </a:r>
          </a:p>
          <a:p>
            <a:pPr algn="l"/>
            <a:r>
              <a:rPr sz="500" b="0">
                <a:solidFill>
                  <a:srgbClr val="4A4A4A"/>
                </a:solidFill>
                <a:latin typeface="Microsoft YaHei"/>
              </a:rPr>
              <a:t/>
            </a:r>
          </a:p>
          <a:p>
            <a:pPr algn="l"/>
            <a:r>
              <a:rPr sz="1050" b="1">
                <a:solidFill>
                  <a:srgbClr val="4A4A4A"/>
                </a:solidFill>
                <a:latin typeface="Microsoft YaHei"/>
              </a:rPr>
              <a:t>為何 WO 是日本主象限：</a:t>
            </a:r>
          </a:p>
          <a:p>
            <a:pPr algn="l"/>
            <a:r>
              <a:rPr sz="900" b="0">
                <a:solidFill>
                  <a:srgbClr val="4A4A4A"/>
                </a:solidFill>
                <a:latin typeface="Microsoft YaHei"/>
              </a:rPr>
              <a:t>• Panasonic/Philips/日立 三強的『品牌+通路+背書』</a:t>
            </a:r>
          </a:p>
          <a:p>
            <a:pPr algn="l"/>
            <a:r>
              <a:rPr sz="900" b="0">
                <a:solidFill>
                  <a:srgbClr val="4A4A4A"/>
                </a:solidFill>
                <a:latin typeface="Microsoft YaHei"/>
              </a:rPr>
              <a:t>  優勢碾壓 URBANER 自身能力 (W&gt;S)</a:t>
            </a:r>
          </a:p>
          <a:p>
            <a:pPr algn="l"/>
            <a:r>
              <a:rPr sz="900" b="0">
                <a:solidFill>
                  <a:srgbClr val="4A4A4A"/>
                </a:solidFill>
                <a:latin typeface="Microsoft YaHei"/>
              </a:rPr>
              <a:t>• 但鼻毛/送禮文化 + 靜音趨勢 + 樂天直営資格</a:t>
            </a:r>
          </a:p>
          <a:p>
            <a:pPr algn="l"/>
            <a:r>
              <a:rPr sz="900" b="0">
                <a:solidFill>
                  <a:srgbClr val="4A4A4A"/>
                </a:solidFill>
                <a:latin typeface="Microsoft YaHei"/>
              </a:rPr>
              <a:t>  仍提供 URBANER 切入空間 (O&gt;T)</a:t>
            </a:r>
          </a:p>
          <a:p>
            <a:pPr algn="l"/>
            <a:r>
              <a:rPr sz="900" b="0">
                <a:solidFill>
                  <a:srgbClr val="4A4A4A"/>
                </a:solidFill>
                <a:latin typeface="Microsoft YaHei"/>
              </a:rPr>
              <a:t>• 因此先補強『權威背書 + 社群聲量』(WO)</a:t>
            </a:r>
          </a:p>
          <a:p>
            <a:pPr algn="l"/>
            <a:r>
              <a:rPr sz="900" b="0">
                <a:solidFill>
                  <a:srgbClr val="4A4A4A"/>
                </a:solidFill>
                <a:latin typeface="Microsoft YaHei"/>
              </a:rPr>
              <a:t>  再進攻、不可貿然以攻擊性 SO 上場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914400"/>
            <a:ext cx="5669280" cy="54864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914400"/>
            <a:ext cx="5669280" cy="365760"/>
          </a:xfrm>
          <a:prstGeom prst="rect">
            <a:avLst/>
          </a:prstGeom>
          <a:solidFill>
            <a:srgbClr val="C9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950976"/>
            <a:ext cx="5486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</a:rPr>
              <a:t>✓ 日本主策略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417320"/>
            <a:ext cx="5486400" cy="4937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>
            <a:spAutoFit/>
          </a:bodyPr>
          <a:lstStyle/>
          <a:p>
            <a:pPr algn="l"/>
            <a:r>
              <a:rPr sz="1100" b="1">
                <a:solidFill>
                  <a:srgbClr val="4A4A4A"/>
                </a:solidFill>
                <a:latin typeface="Microsoft YaHei"/>
              </a:rPr>
              <a:t>來源：[W2×O4] + 槓桿 [S1×O2]</a:t>
            </a:r>
          </a:p>
          <a:p>
            <a:pPr algn="l"/>
            <a:r>
              <a:rPr sz="1100" b="1">
                <a:solidFill>
                  <a:srgbClr val="4A4A4A"/>
                </a:solidFill>
                <a:latin typeface="Microsoft YaHei"/>
              </a:rPr>
              <a:t>「専門家監修 × 樂天直営正規品」雙保險</a:t>
            </a:r>
          </a:p>
          <a:p>
            <a:pPr algn="l"/>
            <a:r>
              <a:rPr sz="400" b="0">
                <a:solidFill>
                  <a:srgbClr val="4A4A4A"/>
                </a:solidFill>
                <a:latin typeface="Microsoft YaHei"/>
              </a:rPr>
              <a:t/>
            </a:r>
          </a:p>
          <a:p>
            <a:pPr algn="l"/>
            <a:r>
              <a:rPr sz="1000" b="1">
                <a:solidFill>
                  <a:srgbClr val="4A4A4A"/>
                </a:solidFill>
                <a:latin typeface="Microsoft YaHei"/>
              </a:rPr>
              <a:t>策略描述：</a:t>
            </a:r>
          </a:p>
          <a:p>
            <a:pPr algn="l"/>
            <a:r>
              <a:rPr sz="950" b="0">
                <a:solidFill>
                  <a:srgbClr val="4A4A4A"/>
                </a:solidFill>
                <a:latin typeface="Microsoft YaHei"/>
              </a:rPr>
              <a:t>• 找 1-2 位日本理容師 / 美容師 / 獸醫合作監修</a:t>
            </a:r>
          </a:p>
          <a:p>
            <a:pPr algn="l"/>
            <a:r>
              <a:rPr sz="950" b="0">
                <a:solidFill>
                  <a:srgbClr val="4A4A4A"/>
                </a:solidFill>
                <a:latin typeface="Microsoft YaHei"/>
              </a:rPr>
              <a:t>  Hero SKU B0GBWZBMS5 (鼻毛/耳毛) → 補 W2</a:t>
            </a:r>
          </a:p>
          <a:p>
            <a:pPr algn="l"/>
            <a:r>
              <a:rPr sz="950" b="0">
                <a:solidFill>
                  <a:srgbClr val="4A4A4A"/>
                </a:solidFill>
                <a:latin typeface="Microsoft YaHei"/>
              </a:rPr>
              <a:t>• Listing bullet 1：「専門家監修」徽章</a:t>
            </a:r>
          </a:p>
          <a:p>
            <a:pPr algn="l"/>
            <a:r>
              <a:rPr sz="950" b="0">
                <a:solidFill>
                  <a:srgbClr val="4A4A4A"/>
                </a:solidFill>
                <a:latin typeface="Microsoft YaHei"/>
              </a:rPr>
              <a:t>• 樂天直営正規品 + 1 年保証 + のし対応</a:t>
            </a:r>
          </a:p>
          <a:p>
            <a:pPr algn="l"/>
            <a:r>
              <a:rPr sz="950" b="0">
                <a:solidFill>
                  <a:srgbClr val="4A4A4A"/>
                </a:solidFill>
                <a:latin typeface="Microsoft YaHei"/>
              </a:rPr>
              <a:t>• Listing 規格表 (附件 7 個 / 38 段 / 50dB / IPX7)</a:t>
            </a:r>
          </a:p>
          <a:p>
            <a:pPr algn="l"/>
            <a:r>
              <a:rPr sz="950" b="0">
                <a:solidFill>
                  <a:srgbClr val="4A4A4A"/>
                </a:solidFill>
                <a:latin typeface="Microsoft YaHei"/>
              </a:rPr>
              <a:t>  直接對標 Panasonic ER-GN71 + IZUMI IZN-C240-K</a:t>
            </a:r>
          </a:p>
          <a:p>
            <a:pPr algn="l"/>
            <a:r>
              <a:rPr sz="950" b="0">
                <a:solidFill>
                  <a:srgbClr val="4A4A4A"/>
                </a:solidFill>
                <a:latin typeface="Microsoft YaHei"/>
              </a:rPr>
              <a:t>• 父の日 (6/15) + 年末ギフト 集中投放</a:t>
            </a:r>
          </a:p>
          <a:p>
            <a:pPr algn="l"/>
            <a:r>
              <a:rPr sz="950" b="0">
                <a:solidFill>
                  <a:srgbClr val="4A4A4A"/>
                </a:solidFill>
                <a:latin typeface="Microsoft YaHei"/>
              </a:rPr>
              <a:t>• 雙電源版本同步上架 (守 Segment 1 偏好)</a:t>
            </a:r>
          </a:p>
          <a:p>
            <a:pPr algn="l"/>
            <a:r>
              <a:rPr sz="400" b="0">
                <a:solidFill>
                  <a:srgbClr val="4A4A4A"/>
                </a:solidFill>
                <a:latin typeface="Microsoft YaHei"/>
              </a:rPr>
              <a:t/>
            </a:r>
          </a:p>
          <a:p>
            <a:pPr algn="l"/>
            <a:r>
              <a:rPr sz="1000" b="1">
                <a:solidFill>
                  <a:srgbClr val="4A4A4A"/>
                </a:solidFill>
                <a:latin typeface="Microsoft YaHei"/>
              </a:rPr>
              <a:t>為何優於其他候選：</a:t>
            </a:r>
          </a:p>
          <a:p>
            <a:pPr algn="l"/>
            <a:r>
              <a:rPr sz="950" b="0">
                <a:solidFill>
                  <a:srgbClr val="4A4A4A"/>
                </a:solidFill>
                <a:latin typeface="Microsoft YaHei"/>
              </a:rPr>
              <a:t>• 同時補 W1 (品牌力)、W2 (背書)、W5 (聲量)</a:t>
            </a:r>
          </a:p>
          <a:p>
            <a:pPr algn="l"/>
            <a:r>
              <a:rPr sz="950" b="0">
                <a:solidFill>
                  <a:srgbClr val="4A4A4A"/>
                </a:solidFill>
                <a:latin typeface="Microsoft YaHei"/>
              </a:rPr>
              <a:t>• 抓住 O4 (専門家偏好) + O5 (中價空缺)</a:t>
            </a:r>
          </a:p>
          <a:p>
            <a:pPr algn="l"/>
            <a:r>
              <a:rPr sz="950" b="0">
                <a:solidFill>
                  <a:srgbClr val="4A4A4A"/>
                </a:solidFill>
                <a:latin typeface="Microsoft YaHei"/>
              </a:rPr>
              <a:t>• 槓桿 S1 (樂天直営) + S2 (47 年工藝)</a:t>
            </a:r>
          </a:p>
          <a:p>
            <a:pPr algn="l"/>
            <a:r>
              <a:rPr sz="400" b="0">
                <a:solidFill>
                  <a:srgbClr val="4A4A4A"/>
                </a:solidFill>
                <a:latin typeface="Microsoft YaHei"/>
              </a:rPr>
              <a:t/>
            </a:r>
          </a:p>
          <a:p>
            <a:pPr algn="l"/>
            <a:r>
              <a:rPr sz="950" b="1">
                <a:solidFill>
                  <a:srgbClr val="4A4A4A"/>
                </a:solidFill>
                <a:latin typeface="Microsoft YaHei"/>
              </a:rPr>
              <a:t>🔁 支援：[W5×O3] note/Twitter 靜音 38dB 內容</a:t>
            </a:r>
          </a:p>
          <a:p>
            <a:pPr algn="l"/>
            <a:r>
              <a:rPr sz="950" b="1">
                <a:solidFill>
                  <a:srgbClr val="4A4A4A"/>
                </a:solidFill>
                <a:latin typeface="Microsoft YaHei"/>
              </a:rPr>
              <a:t>⏸ 暫緩：[S2×O5] 中價精品 SKU — 等監修上線後</a:t>
            </a:r>
          </a:p>
          <a:p>
            <a:pPr algn="l"/>
            <a:r>
              <a:rPr sz="950" b="1">
                <a:solidFill>
                  <a:srgbClr val="4A4A4A"/>
                </a:solidFill>
                <a:latin typeface="Microsoft YaHei"/>
              </a:rPr>
              <a:t>❌ 放棄：[W4×T1] Foil Shaver 自有品牌 — Panasonic 主場</a:t>
            </a:r>
          </a:p>
          <a:p>
            <a:pPr algn="l"/>
            <a:r>
              <a:rPr sz="400" b="0">
                <a:solidFill>
                  <a:srgbClr val="4A4A4A"/>
                </a:solidFill>
                <a:latin typeface="Microsoft YaHei"/>
              </a:rPr>
              <a:t/>
            </a:r>
          </a:p>
          <a:p>
            <a:pPr algn="l"/>
            <a:r>
              <a:rPr sz="1000" b="1">
                <a:solidFill>
                  <a:srgbClr val="4A4A4A"/>
                </a:solidFill>
                <a:latin typeface="Microsoft YaHei"/>
              </a:rPr>
              <a:t>KPI 目標 (12 個月)</a:t>
            </a:r>
          </a:p>
          <a:p>
            <a:pPr algn="l"/>
            <a:r>
              <a:rPr sz="950" b="0">
                <a:solidFill>
                  <a:srgbClr val="4A4A4A"/>
                </a:solidFill>
                <a:latin typeface="Microsoft YaHei"/>
              </a:rPr>
              <a:t>• 樂天月銷 +50%；価格.com 鼻毛類目進入 Top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53796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4A4A4A"/>
                </a:solidFill>
                <a:latin typeface="Microsoft YaHei"/>
              </a:rPr>
              <a:t>URBANER × FourSight Lab  |  16/18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三市場戰略地圖總覽 — 一頁看懂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C99A3B"/>
                </a:solidFill>
                <a:latin typeface="Microsoft YaHei"/>
              </a:rPr>
              <a:t>整體 / 美國 / 日本 三套主策略並行；BMC 震央與 SWOT 主象限對齊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"/>
            <a:ext cx="12191695" cy="45720"/>
          </a:xfrm>
          <a:prstGeom prst="rect">
            <a:avLst/>
          </a:prstGeom>
          <a:solidFill>
            <a:srgbClr val="C9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960120"/>
            <a:ext cx="2194560" cy="45720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960120"/>
            <a:ext cx="2194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層次</a:t>
            </a:r>
          </a:p>
        </p:txBody>
      </p:sp>
      <p:sp>
        <p:nvSpPr>
          <p:cNvPr id="8" name="Rectangle 7"/>
          <p:cNvSpPr/>
          <p:nvPr/>
        </p:nvSpPr>
        <p:spPr>
          <a:xfrm>
            <a:off x="2468880" y="960120"/>
            <a:ext cx="2194560" cy="45720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80" y="960120"/>
            <a:ext cx="2194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BMC 震央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960120"/>
            <a:ext cx="2743200" cy="45720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960120"/>
            <a:ext cx="2743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SWOT 主象限與主策略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06640" y="960120"/>
            <a:ext cx="2377440" cy="45720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960120"/>
            <a:ext cx="2377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槓桿 (S/O)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784080" y="960120"/>
            <a:ext cx="2194560" cy="45720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960120"/>
            <a:ext cx="2194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12 個月 KPI 目標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1463040"/>
            <a:ext cx="2194560" cy="1280160"/>
          </a:xfrm>
          <a:prstGeom prst="rect">
            <a:avLst/>
          </a:prstGeom>
          <a:solidFill>
            <a:srgbClr val="F5F2EC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1536192"/>
            <a:ext cx="2103120" cy="11338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>
            <a:spAutoFit/>
          </a:bodyPr>
          <a:lstStyle/>
          <a:p>
            <a:pPr algn="ctr"/>
            <a:r>
              <a:rPr sz="1100" b="1">
                <a:solidFill>
                  <a:srgbClr val="0B2E4F"/>
                </a:solidFill>
                <a:latin typeface="Microsoft YaHei"/>
              </a:rPr>
              <a:t>整體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68880" y="1463040"/>
            <a:ext cx="2194560" cy="1280160"/>
          </a:xfrm>
          <a:prstGeom prst="rect">
            <a:avLst/>
          </a:prstGeom>
          <a:solidFill>
            <a:srgbClr val="F5F2EC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14600" y="1536192"/>
            <a:ext cx="2103120" cy="11338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>
            <a:spAutoFit/>
          </a:bodyPr>
          <a:lstStyle/>
          <a:p>
            <a:pPr algn="l"/>
            <a:r>
              <a:rPr sz="950" b="0">
                <a:solidFill>
                  <a:srgbClr val="4A4A4A"/>
                </a:solidFill>
                <a:latin typeface="Microsoft YaHei"/>
              </a:rPr>
              <a:t>資源導向</a:t>
            </a:r>
          </a:p>
          <a:p>
            <a:pPr algn="l"/>
            <a:r>
              <a:rPr sz="950" b="0">
                <a:solidFill>
                  <a:srgbClr val="4A4A4A"/>
                </a:solidFill>
                <a:latin typeface="Microsoft YaHei"/>
              </a:rPr>
              <a:t>(47年OEM</a:t>
            </a:r>
          </a:p>
          <a:p>
            <a:pPr algn="l"/>
            <a:r>
              <a:rPr sz="950" b="0">
                <a:solidFill>
                  <a:srgbClr val="4A4A4A"/>
                </a:solidFill>
                <a:latin typeface="Microsoft YaHei"/>
              </a:rPr>
              <a:t>職人能力)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63440" y="1463040"/>
            <a:ext cx="2743200" cy="1280160"/>
          </a:xfrm>
          <a:prstGeom prst="rect">
            <a:avLst/>
          </a:prstGeom>
          <a:solidFill>
            <a:srgbClr val="F5F2EC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09160" y="1536192"/>
            <a:ext cx="2651760" cy="11338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>
            <a:spAutoFit/>
          </a:bodyPr>
          <a:lstStyle/>
          <a:p>
            <a:pPr algn="l"/>
            <a:r>
              <a:rPr sz="950" b="0">
                <a:solidFill>
                  <a:srgbClr val="4A4A4A"/>
                </a:solidFill>
                <a:latin typeface="Microsoft YaHei"/>
              </a:rPr>
              <a:t>SO 乘勝追擊</a:t>
            </a:r>
          </a:p>
          <a:p>
            <a:pPr algn="l"/>
            <a:r>
              <a:rPr sz="950" b="0">
                <a:solidFill>
                  <a:srgbClr val="4A4A4A"/>
                </a:solidFill>
                <a:latin typeface="Microsoft YaHei"/>
              </a:rPr>
              <a:t>[S1×O3] 日系工藝×樂天</a:t>
            </a:r>
          </a:p>
          <a:p>
            <a:pPr algn="l"/>
            <a:r>
              <a:rPr sz="950" b="0">
                <a:solidFill>
                  <a:srgbClr val="4A4A4A"/>
                </a:solidFill>
                <a:latin typeface="Microsoft YaHei"/>
              </a:rPr>
              <a:t>×父の日 → 全球品牌敘事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06640" y="1463040"/>
            <a:ext cx="2377440" cy="1280160"/>
          </a:xfrm>
          <a:prstGeom prst="rect">
            <a:avLst/>
          </a:prstGeom>
          <a:solidFill>
            <a:srgbClr val="F5F2EC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52360" y="1536192"/>
            <a:ext cx="2286000" cy="11338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>
            <a:spAutoFit/>
          </a:bodyPr>
          <a:lstStyle/>
          <a:p>
            <a:pPr algn="l"/>
            <a:r>
              <a:rPr sz="950" b="0">
                <a:solidFill>
                  <a:srgbClr val="4A4A4A"/>
                </a:solidFill>
                <a:latin typeface="Microsoft YaHei"/>
              </a:rPr>
              <a:t>S1 47年OEM</a:t>
            </a:r>
          </a:p>
          <a:p>
            <a:pPr algn="l"/>
            <a:r>
              <a:rPr sz="950" b="0">
                <a:solidFill>
                  <a:srgbClr val="4A4A4A"/>
                </a:solidFill>
                <a:latin typeface="Microsoft YaHei"/>
              </a:rPr>
              <a:t>+ S2 樂天</a:t>
            </a:r>
          </a:p>
          <a:p>
            <a:pPr algn="l"/>
            <a:r>
              <a:rPr sz="950" b="0">
                <a:solidFill>
                  <a:srgbClr val="4A4A4A"/>
                </a:solidFill>
                <a:latin typeface="Microsoft YaHei"/>
              </a:rPr>
              <a:t>+ O3 父の日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784080" y="1463040"/>
            <a:ext cx="2194560" cy="1280160"/>
          </a:xfrm>
          <a:prstGeom prst="rect">
            <a:avLst/>
          </a:prstGeom>
          <a:solidFill>
            <a:srgbClr val="F5F2EC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29800" y="1536192"/>
            <a:ext cx="2103120" cy="11338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>
            <a:spAutoFit/>
          </a:bodyPr>
          <a:lstStyle/>
          <a:p>
            <a:pPr algn="l"/>
            <a:r>
              <a:rPr sz="950" b="0">
                <a:solidFill>
                  <a:srgbClr val="4A4A4A"/>
                </a:solidFill>
                <a:latin typeface="Microsoft YaHei"/>
              </a:rPr>
              <a:t>Beard+Nose</a:t>
            </a:r>
          </a:p>
          <a:p>
            <a:pPr algn="l"/>
            <a:r>
              <a:rPr sz="950" b="0">
                <a:solidFill>
                  <a:srgbClr val="4A4A4A"/>
                </a:solidFill>
                <a:latin typeface="Microsoft YaHei"/>
              </a:rPr>
              <a:t>雙旗艦</a:t>
            </a:r>
          </a:p>
          <a:p>
            <a:pPr algn="l"/>
            <a:r>
              <a:rPr sz="950" b="0">
                <a:solidFill>
                  <a:srgbClr val="4A4A4A"/>
                </a:solidFill>
                <a:latin typeface="Microsoft YaHei"/>
              </a:rPr>
              <a:t>年營收 +30%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2743200"/>
            <a:ext cx="219456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2816352"/>
            <a:ext cx="2103120" cy="11338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>
            <a:spAutoFit/>
          </a:bodyPr>
          <a:lstStyle/>
          <a:p>
            <a:pPr algn="ctr"/>
            <a:r>
              <a:rPr sz="1100" b="1">
                <a:solidFill>
                  <a:srgbClr val="0B2E4F"/>
                </a:solidFill>
                <a:latin typeface="Microsoft YaHei"/>
              </a:rPr>
              <a:t>美國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468880" y="2743200"/>
            <a:ext cx="219456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514600" y="2816352"/>
            <a:ext cx="2103120" cy="11338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>
            <a:spAutoFit/>
          </a:bodyPr>
          <a:lstStyle/>
          <a:p>
            <a:pPr algn="l"/>
            <a:r>
              <a:rPr sz="950" b="0">
                <a:solidFill>
                  <a:srgbClr val="4A4A4A"/>
                </a:solidFill>
                <a:latin typeface="Microsoft YaHei"/>
              </a:rPr>
              <a:t>顧客導向</a:t>
            </a:r>
          </a:p>
          <a:p>
            <a:pPr algn="l"/>
            <a:r>
              <a:rPr sz="950" b="0">
                <a:solidFill>
                  <a:srgbClr val="4A4A4A"/>
                </a:solidFill>
                <a:latin typeface="Microsoft YaHei"/>
              </a:rPr>
              <a:t>(送禮買家</a:t>
            </a:r>
          </a:p>
          <a:p>
            <a:pPr algn="l"/>
            <a:r>
              <a:rPr sz="950" b="0">
                <a:solidFill>
                  <a:srgbClr val="4A4A4A"/>
                </a:solidFill>
                <a:latin typeface="Microsoft YaHei"/>
              </a:rPr>
              <a:t>F=1299)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63440" y="2743200"/>
            <a:ext cx="274320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09160" y="2816352"/>
            <a:ext cx="2651760" cy="11338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>
            <a:spAutoFit/>
          </a:bodyPr>
          <a:lstStyle/>
          <a:p>
            <a:pPr algn="l"/>
            <a:r>
              <a:rPr sz="950" b="0">
                <a:solidFill>
                  <a:srgbClr val="4A4A4A"/>
                </a:solidFill>
                <a:latin typeface="Microsoft YaHei"/>
              </a:rPr>
              <a:t>SO 乘勝追擊</a:t>
            </a:r>
          </a:p>
          <a:p>
            <a:pPr algn="l"/>
            <a:r>
              <a:rPr sz="950" b="0">
                <a:solidFill>
                  <a:srgbClr val="4A4A4A"/>
                </a:solidFill>
                <a:latin typeface="Microsoft YaHei"/>
              </a:rPr>
              <a:t>[S1×O1] Father's Day</a:t>
            </a:r>
          </a:p>
          <a:p>
            <a:pPr algn="l"/>
            <a:r>
              <a:rPr sz="950" b="0">
                <a:solidFill>
                  <a:srgbClr val="4A4A4A"/>
                </a:solidFill>
                <a:latin typeface="Microsoft YaHei"/>
              </a:rPr>
              <a:t>禮盒 × 7-in-1 套組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406640" y="2743200"/>
            <a:ext cx="237744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52360" y="2816352"/>
            <a:ext cx="2286000" cy="11338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>
            <a:spAutoFit/>
          </a:bodyPr>
          <a:lstStyle/>
          <a:p>
            <a:pPr algn="l"/>
            <a:r>
              <a:rPr sz="950" b="0">
                <a:solidFill>
                  <a:srgbClr val="4A4A4A"/>
                </a:solidFill>
                <a:latin typeface="Microsoft YaHei"/>
              </a:rPr>
              <a:t>S1 工藝故事</a:t>
            </a:r>
          </a:p>
          <a:p>
            <a:pPr algn="l"/>
            <a:r>
              <a:rPr sz="950" b="0">
                <a:solidFill>
                  <a:srgbClr val="4A4A4A"/>
                </a:solidFill>
                <a:latin typeface="Microsoft YaHei"/>
              </a:rPr>
              <a:t>+ S2 Hero SKU</a:t>
            </a:r>
          </a:p>
          <a:p>
            <a:pPr algn="l"/>
            <a:r>
              <a:rPr sz="950" b="0">
                <a:solidFill>
                  <a:srgbClr val="4A4A4A"/>
                </a:solidFill>
                <a:latin typeface="Microsoft YaHei"/>
              </a:rPr>
              <a:t>+ O1 送禮潮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784080" y="2743200"/>
            <a:ext cx="219456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829800" y="2816352"/>
            <a:ext cx="2103120" cy="11338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>
            <a:spAutoFit/>
          </a:bodyPr>
          <a:lstStyle/>
          <a:p>
            <a:pPr algn="l"/>
            <a:r>
              <a:rPr sz="950" b="0">
                <a:solidFill>
                  <a:srgbClr val="4A4A4A"/>
                </a:solidFill>
                <a:latin typeface="Microsoft YaHei"/>
              </a:rPr>
              <a:t>Q2 ROAS 4.5+</a:t>
            </a:r>
          </a:p>
          <a:p>
            <a:pPr algn="l"/>
            <a:r>
              <a:rPr sz="950" b="0">
                <a:solidFill>
                  <a:srgbClr val="4A4A4A"/>
                </a:solidFill>
                <a:latin typeface="Microsoft YaHei"/>
              </a:rPr>
              <a:t>Beard 類目</a:t>
            </a:r>
          </a:p>
          <a:p>
            <a:pPr algn="l"/>
            <a:r>
              <a:rPr sz="950" b="0">
                <a:solidFill>
                  <a:srgbClr val="4A4A4A"/>
                </a:solidFill>
                <a:latin typeface="Microsoft YaHei"/>
              </a:rPr>
              <a:t>+35% YoY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4023360"/>
            <a:ext cx="2194560" cy="1280160"/>
          </a:xfrm>
          <a:prstGeom prst="rect">
            <a:avLst/>
          </a:prstGeom>
          <a:solidFill>
            <a:srgbClr val="F5F2EC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4096512"/>
            <a:ext cx="2103120" cy="11338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>
            <a:spAutoFit/>
          </a:bodyPr>
          <a:lstStyle/>
          <a:p>
            <a:pPr algn="ctr"/>
            <a:r>
              <a:rPr sz="1100" b="1">
                <a:solidFill>
                  <a:srgbClr val="0B2E4F"/>
                </a:solidFill>
                <a:latin typeface="Microsoft YaHei"/>
              </a:rPr>
              <a:t>日本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468880" y="4023360"/>
            <a:ext cx="2194560" cy="1280160"/>
          </a:xfrm>
          <a:prstGeom prst="rect">
            <a:avLst/>
          </a:prstGeom>
          <a:solidFill>
            <a:srgbClr val="F5F2EC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514600" y="4096512"/>
            <a:ext cx="2103120" cy="11338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>
            <a:spAutoFit/>
          </a:bodyPr>
          <a:lstStyle/>
          <a:p>
            <a:pPr algn="l"/>
            <a:r>
              <a:rPr sz="950" b="0">
                <a:solidFill>
                  <a:srgbClr val="4A4A4A"/>
                </a:solidFill>
                <a:latin typeface="Microsoft YaHei"/>
              </a:rPr>
              <a:t>產品導向</a:t>
            </a:r>
          </a:p>
          <a:p>
            <a:pPr algn="l"/>
            <a:r>
              <a:rPr sz="950" b="0">
                <a:solidFill>
                  <a:srgbClr val="4A4A4A"/>
                </a:solidFill>
                <a:latin typeface="Microsoft YaHei"/>
              </a:rPr>
              <a:t>(附件F=2630</a:t>
            </a:r>
          </a:p>
          <a:p>
            <a:pPr algn="l"/>
            <a:r>
              <a:rPr sz="950" b="0">
                <a:solidFill>
                  <a:srgbClr val="4A4A4A"/>
                </a:solidFill>
                <a:latin typeface="Microsoft YaHei"/>
              </a:rPr>
              <a:t>刻度F=2412)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63440" y="4023360"/>
            <a:ext cx="2743200" cy="1280160"/>
          </a:xfrm>
          <a:prstGeom prst="rect">
            <a:avLst/>
          </a:prstGeom>
          <a:solidFill>
            <a:srgbClr val="F5F2EC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09160" y="4096512"/>
            <a:ext cx="2651760" cy="11338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>
            <a:spAutoFit/>
          </a:bodyPr>
          <a:lstStyle/>
          <a:p>
            <a:pPr algn="l"/>
            <a:r>
              <a:rPr sz="950" b="0">
                <a:solidFill>
                  <a:srgbClr val="4A4A4A"/>
                </a:solidFill>
                <a:latin typeface="Microsoft YaHei"/>
              </a:rPr>
              <a:t>WO 策略聯盟</a:t>
            </a:r>
          </a:p>
          <a:p>
            <a:pPr algn="l"/>
            <a:r>
              <a:rPr sz="950" b="0">
                <a:solidFill>
                  <a:srgbClr val="4A4A4A"/>
                </a:solidFill>
                <a:latin typeface="Microsoft YaHei"/>
              </a:rPr>
              <a:t>[W2×O4] 專家監修</a:t>
            </a:r>
          </a:p>
          <a:p>
            <a:pPr algn="l"/>
            <a:r>
              <a:rPr sz="950" b="0">
                <a:solidFill>
                  <a:srgbClr val="4A4A4A"/>
                </a:solidFill>
                <a:latin typeface="Microsoft YaHei"/>
              </a:rPr>
              <a:t>× 樂天直営×規格對標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06640" y="4023360"/>
            <a:ext cx="2377440" cy="1280160"/>
          </a:xfrm>
          <a:prstGeom prst="rect">
            <a:avLst/>
          </a:prstGeom>
          <a:solidFill>
            <a:srgbClr val="F5F2EC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52360" y="4096512"/>
            <a:ext cx="2286000" cy="11338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>
            <a:spAutoFit/>
          </a:bodyPr>
          <a:lstStyle/>
          <a:p>
            <a:pPr algn="l"/>
            <a:r>
              <a:rPr sz="950" b="0">
                <a:solidFill>
                  <a:srgbClr val="4A4A4A"/>
                </a:solidFill>
                <a:latin typeface="Microsoft YaHei"/>
              </a:rPr>
              <a:t>S1 樂天</a:t>
            </a:r>
          </a:p>
          <a:p>
            <a:pPr algn="l"/>
            <a:r>
              <a:rPr sz="950" b="0">
                <a:solidFill>
                  <a:srgbClr val="4A4A4A"/>
                </a:solidFill>
                <a:latin typeface="Microsoft YaHei"/>
              </a:rPr>
              <a:t>+ W2 補背書</a:t>
            </a:r>
          </a:p>
          <a:p>
            <a:pPr algn="l"/>
            <a:r>
              <a:rPr sz="950" b="0">
                <a:solidFill>
                  <a:srgbClr val="4A4A4A"/>
                </a:solidFill>
                <a:latin typeface="Microsoft YaHei"/>
              </a:rPr>
              <a:t>+ O4 専門家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784080" y="4023360"/>
            <a:ext cx="2194560" cy="1280160"/>
          </a:xfrm>
          <a:prstGeom prst="rect">
            <a:avLst/>
          </a:prstGeom>
          <a:solidFill>
            <a:srgbClr val="F5F2EC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829800" y="4096512"/>
            <a:ext cx="2103120" cy="11338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>
            <a:spAutoFit/>
          </a:bodyPr>
          <a:lstStyle/>
          <a:p>
            <a:pPr algn="l"/>
            <a:r>
              <a:rPr sz="950" b="0">
                <a:solidFill>
                  <a:srgbClr val="4A4A4A"/>
                </a:solidFill>
                <a:latin typeface="Microsoft YaHei"/>
              </a:rPr>
              <a:t>樂天月銷 +50%</a:t>
            </a:r>
          </a:p>
          <a:p>
            <a:pPr algn="l"/>
            <a:r>
              <a:rPr sz="950" b="0">
                <a:solidFill>
                  <a:srgbClr val="4A4A4A"/>
                </a:solidFill>
                <a:latin typeface="Microsoft YaHei"/>
              </a:rPr>
              <a:t>価格.com</a:t>
            </a:r>
          </a:p>
          <a:p>
            <a:pPr algn="l"/>
            <a:r>
              <a:rPr sz="950" b="0">
                <a:solidFill>
                  <a:srgbClr val="4A4A4A"/>
                </a:solidFill>
                <a:latin typeface="Microsoft YaHei"/>
              </a:rPr>
              <a:t>鼻毛 Top 10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5486400"/>
            <a:ext cx="11612880" cy="914400"/>
          </a:xfrm>
          <a:prstGeom prst="rect">
            <a:avLst/>
          </a:prstGeom>
          <a:solidFill>
            <a:srgbClr val="F5F2EC"/>
          </a:solidFill>
          <a:ln w="19050">
            <a:solidFill>
              <a:srgbClr val="C99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5559552"/>
            <a:ext cx="11338560" cy="8229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>
            <a:spAutoFit/>
          </a:bodyPr>
          <a:lstStyle/>
          <a:p>
            <a:pPr algn="l"/>
            <a:r>
              <a:rPr sz="1200" b="1">
                <a:solidFill>
                  <a:srgbClr val="0B2E4F"/>
                </a:solidFill>
                <a:latin typeface="Microsoft YaHei"/>
              </a:rPr>
              <a:t>關鍵原則 (Three Locks)</a:t>
            </a:r>
          </a:p>
          <a:p>
            <a:pPr algn="l"/>
            <a:r>
              <a:rPr sz="1000" b="0">
                <a:solidFill>
                  <a:srgbClr val="0B2E4F"/>
                </a:solidFill>
                <a:latin typeface="Microsoft YaHei"/>
              </a:rPr>
              <a:t>①  雙引擎不可丟  — OBM + OEM 並行：OBM 是品牌長期、OEM 是現金流與供應鏈彈性</a:t>
            </a:r>
          </a:p>
          <a:p>
            <a:pPr algn="l"/>
            <a:r>
              <a:rPr sz="1000" b="0">
                <a:solidFill>
                  <a:srgbClr val="0B2E4F"/>
                </a:solidFill>
                <a:latin typeface="Microsoft YaHei"/>
              </a:rPr>
              <a:t>②  Hero SKU 先做深、再做廣  — US: B0FL267TCG / JP: B0GBWZBMS5；不要分散資源</a:t>
            </a:r>
          </a:p>
          <a:p>
            <a:pPr algn="l"/>
            <a:r>
              <a:rPr sz="1000" b="0">
                <a:solidFill>
                  <a:srgbClr val="0B2E4F"/>
                </a:solidFill>
                <a:latin typeface="Microsoft YaHei"/>
              </a:rPr>
              <a:t>③  避免在競品主場硬碰  — 日本不打 Panasonic Foil Shaver、美國不打 Manscaped Body Groomer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515600" y="653796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4A4A4A"/>
                </a:solidFill>
                <a:latin typeface="Microsoft YaHei"/>
              </a:rPr>
              <a:t>URBANER × FourSight Lab  |  17/18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Now / Next / Later — 行動路線圖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C99A3B"/>
                </a:solidFill>
                <a:latin typeface="Microsoft YaHei"/>
              </a:rPr>
              <a:t>0-30 天立即執行 × 31-90 天系統化 × 90 天後策略性投入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"/>
            <a:ext cx="12191695" cy="45720"/>
          </a:xfrm>
          <a:prstGeom prst="rect">
            <a:avLst/>
          </a:prstGeom>
          <a:solidFill>
            <a:srgbClr val="C9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960120"/>
            <a:ext cx="3840480" cy="5303520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960120"/>
            <a:ext cx="3840480" cy="777240"/>
          </a:xfrm>
          <a:prstGeom prst="rect">
            <a:avLst/>
          </a:prstGeom>
          <a:solidFill>
            <a:srgbClr val="B8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005840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</a:rPr>
              <a:t>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371600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0-30 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554480"/>
            <a:ext cx="3840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icrosoft YaHei"/>
              </a:rPr>
              <a:t>立即執行 (低成本、高槓桿)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1828800"/>
            <a:ext cx="3566160" cy="43434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>
            <a:spAutoFit/>
          </a:bodyPr>
          <a:lstStyle/>
          <a:p>
            <a:pPr algn="l"/>
            <a:r>
              <a:rPr sz="1000" b="1">
                <a:solidFill>
                  <a:srgbClr val="4A4A4A"/>
                </a:solidFill>
                <a:latin typeface="Microsoft YaHei"/>
              </a:rPr>
              <a:t>【整體】整理 47 年代工故事 → 1 支 60 秒品牌片</a:t>
            </a:r>
          </a:p>
          <a:p>
            <a:pPr algn="l"/>
            <a:r>
              <a:rPr sz="900" b="0">
                <a:solidFill>
                  <a:srgbClr val="4A4A4A"/>
                </a:solidFill>
                <a:latin typeface="Microsoft YaHei"/>
              </a:rPr>
              <a:t>    + 5 張靜態素材 (US/JP 雙語)</a:t>
            </a:r>
          </a:p>
          <a:p>
            <a:pPr algn="l"/>
            <a:r>
              <a:rPr sz="1000" b="1">
                <a:solidFill>
                  <a:srgbClr val="4A4A4A"/>
                </a:solidFill>
                <a:latin typeface="Microsoft YaHei"/>
              </a:rPr>
              <a:t>【US】Hero SKU B0FL267TCG Listing A+ 加入</a:t>
            </a:r>
          </a:p>
          <a:p>
            <a:pPr algn="l"/>
            <a:r>
              <a:rPr sz="900" b="0">
                <a:solidFill>
                  <a:srgbClr val="4A4A4A"/>
                </a:solidFill>
                <a:latin typeface="Microsoft YaHei"/>
              </a:rPr>
              <a:t>    『Perfect Gift for Him』第一屏</a:t>
            </a:r>
          </a:p>
          <a:p>
            <a:pPr algn="l"/>
            <a:r>
              <a:rPr sz="1000" b="1">
                <a:solidFill>
                  <a:srgbClr val="4A4A4A"/>
                </a:solidFill>
                <a:latin typeface="Microsoft YaHei"/>
              </a:rPr>
              <a:t>【JP】開始接觸 1-2 位理容師/美容師</a:t>
            </a:r>
          </a:p>
          <a:p>
            <a:pPr algn="l"/>
            <a:r>
              <a:rPr sz="900" b="0">
                <a:solidFill>
                  <a:srgbClr val="4A4A4A"/>
                </a:solidFill>
                <a:latin typeface="Microsoft YaHei"/>
              </a:rPr>
              <a:t>    談監修合作，目標 30 天內簽 1 位</a:t>
            </a:r>
          </a:p>
          <a:p>
            <a:pPr algn="l"/>
            <a:r>
              <a:rPr sz="1000" b="1">
                <a:solidFill>
                  <a:srgbClr val="4A4A4A"/>
                </a:solidFill>
                <a:latin typeface="Microsoft YaHei"/>
              </a:rPr>
              <a:t>【JP】樂天 Listing 加入『正規品 + 1年保証』徽章</a:t>
            </a:r>
          </a:p>
          <a:p>
            <a:pPr algn="l"/>
            <a:r>
              <a:rPr sz="900" b="0">
                <a:solidFill>
                  <a:srgbClr val="4A4A4A"/>
                </a:solidFill>
                <a:latin typeface="Microsoft YaHei"/>
              </a:rPr>
              <a:t>【全】評分維度說明：可行性高、可立即啟動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60" y="960120"/>
            <a:ext cx="3840480" cy="5303520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51960" y="960120"/>
            <a:ext cx="3840480" cy="777240"/>
          </a:xfrm>
          <a:prstGeom prst="rect">
            <a:avLst/>
          </a:prstGeom>
          <a:solidFill>
            <a:srgbClr val="D48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51960" y="1005840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</a:rPr>
              <a:t>Next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1371600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31-90 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1554480"/>
            <a:ext cx="3840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icrosoft YaHei"/>
              </a:rPr>
              <a:t>系統化建置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1828800"/>
            <a:ext cx="3566160" cy="43434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>
            <a:spAutoFit/>
          </a:bodyPr>
          <a:lstStyle/>
          <a:p>
            <a:pPr algn="l"/>
            <a:r>
              <a:rPr sz="1000" b="1">
                <a:solidFill>
                  <a:srgbClr val="4A4A4A"/>
                </a:solidFill>
                <a:latin typeface="Microsoft YaHei"/>
              </a:rPr>
              <a:t>【US】Father's Day 禮盒打樣 + 包裝定稿</a:t>
            </a:r>
          </a:p>
          <a:p>
            <a:pPr algn="l"/>
            <a:r>
              <a:rPr sz="900" b="0">
                <a:solidFill>
                  <a:srgbClr val="4A4A4A"/>
                </a:solidFill>
                <a:latin typeface="Microsoft YaHei"/>
              </a:rPr>
              <a:t>    供應商談判完成，5 月底前到 FBA</a:t>
            </a:r>
          </a:p>
          <a:p>
            <a:pPr algn="l"/>
            <a:r>
              <a:rPr sz="1000" b="1">
                <a:solidFill>
                  <a:srgbClr val="4A4A4A"/>
                </a:solidFill>
                <a:latin typeface="Microsoft YaHei"/>
              </a:rPr>
              <a:t>【JP】専門家監修文案 + 短影音上線</a:t>
            </a:r>
          </a:p>
          <a:p>
            <a:pPr algn="l"/>
            <a:r>
              <a:rPr sz="900" b="0">
                <a:solidFill>
                  <a:srgbClr val="4A4A4A"/>
                </a:solidFill>
                <a:latin typeface="Microsoft YaHei"/>
              </a:rPr>
              <a:t>    Listing bullet 1 同步更新</a:t>
            </a:r>
          </a:p>
          <a:p>
            <a:pPr algn="l"/>
            <a:r>
              <a:rPr sz="1000" b="1">
                <a:solidFill>
                  <a:srgbClr val="4A4A4A"/>
                </a:solidFill>
                <a:latin typeface="Microsoft YaHei"/>
              </a:rPr>
              <a:t>【JP】開始經營 note + Twitter 帳號</a:t>
            </a:r>
          </a:p>
          <a:p>
            <a:pPr algn="l"/>
            <a:r>
              <a:rPr sz="900" b="0">
                <a:solidFill>
                  <a:srgbClr val="4A4A4A"/>
                </a:solidFill>
                <a:latin typeface="Microsoft YaHei"/>
              </a:rPr>
              <a:t>    每週 2 篇『靜音 dB / 丸洗い』內容</a:t>
            </a:r>
          </a:p>
          <a:p>
            <a:pPr algn="l"/>
            <a:r>
              <a:rPr sz="1000" b="1">
                <a:solidFill>
                  <a:srgbClr val="4A4A4A"/>
                </a:solidFill>
                <a:latin typeface="Microsoft YaHei"/>
              </a:rPr>
              <a:t>【整體】設計『URBANER 直営正規品 + 序號系統』</a:t>
            </a:r>
          </a:p>
          <a:p>
            <a:pPr algn="l"/>
            <a:r>
              <a:rPr sz="900" b="0">
                <a:solidFill>
                  <a:srgbClr val="4A4A4A"/>
                </a:solidFill>
                <a:latin typeface="Microsoft YaHei"/>
              </a:rPr>
              <a:t>    對抗山寨平行輸入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960120"/>
            <a:ext cx="3840480" cy="5303520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0" y="960120"/>
            <a:ext cx="3840480" cy="777240"/>
          </a:xfrm>
          <a:prstGeom prst="rect">
            <a:avLst/>
          </a:prstGeom>
          <a:solidFill>
            <a:srgbClr val="3B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1005840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</a:rPr>
              <a:t>Later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1371600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90 天 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1554480"/>
            <a:ext cx="3840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icrosoft YaHei"/>
              </a:rPr>
              <a:t>策略性投入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1828800"/>
            <a:ext cx="3566160" cy="43434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>
            <a:spAutoFit/>
          </a:bodyPr>
          <a:lstStyle/>
          <a:p>
            <a:pPr algn="l"/>
            <a:r>
              <a:rPr sz="1000" b="1">
                <a:solidFill>
                  <a:srgbClr val="4A4A4A"/>
                </a:solidFill>
                <a:latin typeface="Microsoft YaHei"/>
              </a:rPr>
              <a:t>【整體】NPI 週期縮短至 12 個月，</a:t>
            </a:r>
          </a:p>
          <a:p>
            <a:pPr algn="l"/>
            <a:r>
              <a:rPr sz="900" b="0">
                <a:solidFill>
                  <a:srgbClr val="4A4A4A"/>
                </a:solidFill>
                <a:latin typeface="Microsoft YaHei"/>
              </a:rPr>
              <a:t>    每年至少 2 款新 Hero SKU</a:t>
            </a:r>
          </a:p>
          <a:p>
            <a:pPr algn="l"/>
            <a:r>
              <a:rPr sz="1000" b="1">
                <a:solidFill>
                  <a:srgbClr val="4A4A4A"/>
                </a:solidFill>
                <a:latin typeface="Microsoft YaHei"/>
              </a:rPr>
              <a:t>【US】複用素材跑黑五/聖誕 + 開發母親節版</a:t>
            </a:r>
          </a:p>
          <a:p>
            <a:pPr algn="l"/>
            <a:r>
              <a:rPr sz="1000" b="1">
                <a:solidFill>
                  <a:srgbClr val="4A4A4A"/>
                </a:solidFill>
                <a:latin typeface="Microsoft YaHei"/>
              </a:rPr>
              <a:t>【JP】Hero SKU 雙電源版本同步上架</a:t>
            </a:r>
          </a:p>
          <a:p>
            <a:pPr algn="l"/>
            <a:r>
              <a:rPr sz="900" b="0">
                <a:solidFill>
                  <a:srgbClr val="4A4A4A"/>
                </a:solidFill>
                <a:latin typeface="Microsoft YaHei"/>
              </a:rPr>
              <a:t>    守住 Segment 1 (乾電池偏好)</a:t>
            </a:r>
          </a:p>
          <a:p>
            <a:pPr algn="l"/>
            <a:r>
              <a:rPr sz="1000" b="1">
                <a:solidFill>
                  <a:srgbClr val="4A4A4A"/>
                </a:solidFill>
                <a:latin typeface="Microsoft YaHei"/>
              </a:rPr>
              <a:t>【整體】評估 OEM 越南產線移轉</a:t>
            </a:r>
          </a:p>
          <a:p>
            <a:pPr algn="l"/>
            <a:r>
              <a:rPr sz="900" b="0">
                <a:solidFill>
                  <a:srgbClr val="4A4A4A"/>
                </a:solidFill>
                <a:latin typeface="Microsoft YaHei"/>
              </a:rPr>
              <a:t>    對沖美中關稅風險</a:t>
            </a:r>
          </a:p>
          <a:p>
            <a:pPr algn="l"/>
            <a:r>
              <a:rPr sz="1000" b="1">
                <a:solidFill>
                  <a:srgbClr val="4A4A4A"/>
                </a:solidFill>
                <a:latin typeface="Microsoft YaHei"/>
              </a:rPr>
              <a:t>【整體】Beard/Nose 年營收 &gt; USD 5M 後</a:t>
            </a:r>
          </a:p>
          <a:p>
            <a:pPr algn="l"/>
            <a:r>
              <a:rPr sz="900" b="0">
                <a:solidFill>
                  <a:srgbClr val="4A4A4A"/>
                </a:solidFill>
                <a:latin typeface="Microsoft YaHei"/>
              </a:rPr>
              <a:t>    再啟動 Foil Shaver / Body Groomer 自有品牌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53796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4A4A4A"/>
                </a:solidFill>
                <a:latin typeface="Microsoft YaHei"/>
              </a:rPr>
              <a:t>URBANER × FourSight Lab  |  18/18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