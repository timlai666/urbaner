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更正：B0FL267TCG→B0GL2DKVQH（美國自家旗艦 Beard/Mustache ★3.78 距理想2.49）；距理想點 1.601→2.49；B0FL267TCG 為競品 Ufree（市場頂尖），改列追趕對象。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更正：標題/品類 Nose/Ear→Beard/Mustache；B0GBWZBMS5→B07CYZH2XC（日本自家旗艦 ★3.51 距理想3.43）；距理想點 1.97→3.43；B0GBWZBMS5 為 Nose/Ear 競品（市場頂尖），改列尚未站穩戰場。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2B233"/>
                </a:solidFill>
                <a:latin typeface="Microsoft JhengHei"/>
                <a:ea typeface="Microsoft JhengHei"/>
              </a:rPr>
              <a:t>本檔用途｜投影片 12 / 15 SKU 更正版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F0F0F0"/>
                </a:solidFill>
                <a:latin typeface="Microsoft JhengHei"/>
                <a:ea typeface="Microsoft JhengHei"/>
              </a:rPr>
              <a:t>原簡報投影片 12、15 把「市場頂尖競品」誤植為 URBANER 自家 Hero SKU。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F0F0F0"/>
                </a:solidFill>
                <a:latin typeface="Microsoft JhengHei"/>
                <a:ea typeface="Microsoft JhengHei"/>
              </a:rPr>
              <a:t>以下第 2、3 頁為更正後版本，可直接複製整頁或文字方塊貼回你的原簡報。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F0F0F0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● 投影片 12（美國 Positioning）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F0F0F0"/>
                </a:solidFill>
                <a:latin typeface="Microsoft JhengHei"/>
                <a:ea typeface="Microsoft JhengHei"/>
              </a:rPr>
              <a:t>   B0FL267TCG  →  B0GL2DKVQH（美國自家旗艦，Beard/Mustache，★3.78）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F0F0F0"/>
                </a:solidFill>
                <a:latin typeface="Microsoft JhengHei"/>
                <a:ea typeface="Microsoft JhengHei"/>
              </a:rPr>
              <a:t>   距理想點 1.601  →  2.49；「為美國 Hero SKU」→「為美國自家旗艦」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A9A9A"/>
                </a:solidFill>
                <a:latin typeface="Microsoft JhengHei"/>
                <a:ea typeface="Microsoft JhengHei"/>
              </a:rPr>
              <a:t>   B0FL267TCG 其實是競品 Ufree（美國市場頂尖 ★4.52 / 距理想 1.60），改列為追趕對象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F0F0F0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● 投影片 15（日本 Positioning）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F0F0F0"/>
                </a:solidFill>
                <a:latin typeface="Microsoft JhengHei"/>
                <a:ea typeface="Microsoft JhengHei"/>
              </a:rPr>
              <a:t>   標題與品類 Nose / Ear  →  Beard / Mustache（自家旗艦實際品類）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F0F0F0"/>
                </a:solidFill>
                <a:latin typeface="Microsoft JhengHei"/>
                <a:ea typeface="Microsoft JhengHei"/>
              </a:rPr>
              <a:t>   B0GBWZBMS5  →  B07CYZH2XC（日本自家旗艦，★3.51）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F0F0F0"/>
                </a:solidFill>
                <a:latin typeface="Microsoft JhengHei"/>
                <a:ea typeface="Microsoft JhengHei"/>
              </a:rPr>
              <a:t>   距理想點 1.97  →  3.43；「為日本 Hero SKU」→「為日本自家旗艦」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A9A9A"/>
                </a:solidFill>
                <a:latin typeface="Microsoft JhengHei"/>
                <a:ea typeface="Microsoft JhengHei"/>
              </a:rPr>
              <a:t>   B0GBWZBMS5 是 Nose/Ear 競品（日本市場頂尖 ★4.61 / 距理想 1.97），改列為尚未站穩戰場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F0F0F0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資料來源：URBANER 雙市場戰略儀表板（2026-05-05）、research/own_asins.txt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199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5760" y="146304"/>
            <a:ext cx="1143000" cy="32918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Targeting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5760" y="475488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2B233"/>
                </a:solidFill>
                <a:latin typeface="Microsoft JhengHei"/>
                <a:ea typeface="Microsoft JhengHei"/>
              </a:rPr>
              <a:t>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59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0040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320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2B233"/>
                </a:solidFill>
                <a:latin typeface="Microsoft JhengHei"/>
                <a:ea typeface="Microsoft JhengHei"/>
              </a:rPr>
              <a:t>24｜美國 Positioning：主打 Beard / Mustache Hero SKU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25296"/>
            <a:ext cx="11384280" cy="25400"/>
          </a:xfrm>
          <a:prstGeom prst="rect">
            <a:avLst/>
          </a:prstGeom>
          <a:solidFill>
            <a:srgbClr val="F2B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1732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Hero 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47088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F0F0F0"/>
                </a:solidFill>
                <a:latin typeface="Microsoft JhengHei"/>
                <a:ea typeface="Microsoft JhengHei"/>
              </a:rPr>
              <a:t>B0GL2DKVQH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品類：Beard / Mustache Trimmers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定位：Gift-Ready Multi-Function Grooming Kit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STP 評估：距理想點 2.49，為美國自家旗艦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F2B233"/>
                </a:solidFill>
                <a:latin typeface="Microsoft JhengHei"/>
                <a:ea typeface="Microsoft JhengHei"/>
              </a:rPr>
              <a:t>市場頂尖：競品 Ufree B0FL267TCG ★4.52 / 距理想 1.60（追趕對象）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417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推薦主訴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47088"/>
            <a:ext cx="3657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Perfect Gift for Him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E8503A"/>
                </a:solidFill>
                <a:latin typeface="Microsoft JhengHei"/>
                <a:ea typeface="Microsoft JhengHei"/>
              </a:rPr>
              <a:t>5-in-1 / 7-in-1 grooming kit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Japanese OEM craftsmanship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E8503A"/>
                </a:solidFill>
                <a:latin typeface="Microsoft JhengHei"/>
                <a:ea typeface="Microsoft JhengHei"/>
              </a:rPr>
              <a:t>USB-C / IPX7 / charging dock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套組完整，送禮不需二次包裝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41732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價格定位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47088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從 Conair 入門品向上區隔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建議落在 $60–$120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定位上高於入門平價品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但低於 Braun Series 9 Pro 等 $300+ 旗艦級產品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4069080"/>
          <a:ext cx="11430000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5989320"/>
                <a:gridCol w="36576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Listing 區塊</a:t>
                      </a:r>
                    </a:p>
                  </a:txBody>
                  <a:tcPr marL="109728" marR="73152" marT="36576" marB="36576" anchor="ctr">
                    <a:solidFill>
                      <a:srgbClr val="186E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建議內容</a:t>
                      </a:r>
                    </a:p>
                  </a:txBody>
                  <a:tcPr marL="109728" marR="73152" marT="36576" marB="36576" anchor="ctr">
                    <a:solidFill>
                      <a:srgbClr val="186E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對應資料訊號</a:t>
                      </a:r>
                    </a:p>
                  </a:txBody>
                  <a:tcPr marL="109728" marR="73152" marT="36576" marB="36576" anchor="ctr">
                    <a:solidFill>
                      <a:srgbClr val="186E6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主圖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右上標明 5–7 合 1／附件件數徽章，產品以禮盒與完整套組呈現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num_grooming_functions F=1193；total_attachments_count F=1015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A+Content 第一屏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放父親節、聖誕節、男士日常修容情境；文案寫 Perfect Gift for Him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gift_suitability_men F=1299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規格證明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USB-C、IPX7、防水全水洗、充電底座、附件對照圖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power_source_type F=941；waterproof F=903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競品對標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避免只對 Conair 打價格，改以 Manscaped／Wahl／Andis 對標功能與形象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BMC/SWOT：美國競爭者基準與排除規則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2B233"/>
                </a:solidFill>
                <a:latin typeface="Microsoft JhengHei"/>
                <a:ea typeface="Microsoft JhengHei"/>
              </a:rPr>
              <a:t>Positioning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199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5760" y="146304"/>
            <a:ext cx="1143000" cy="32918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Targeting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5760" y="475488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F2B233"/>
                </a:solidFill>
                <a:latin typeface="Microsoft JhengHei"/>
                <a:ea typeface="Microsoft JhengHei"/>
              </a:rPr>
              <a:t>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59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0040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320" y="1645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A9A9A"/>
                </a:solidFill>
                <a:latin typeface="Microsoft JhengHei"/>
                <a:ea typeface="Microsoft JhengHei"/>
              </a:rPr>
              <a:t>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"/>
            <a:ext cx="11338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2B233"/>
                </a:solidFill>
                <a:latin typeface="Microsoft JhengHei"/>
                <a:ea typeface="Microsoft JhengHei"/>
              </a:rPr>
              <a:t>27｜日本 Positioning：主打 Beard / Mustache Hero SKU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25296"/>
            <a:ext cx="11384280" cy="25400"/>
          </a:xfrm>
          <a:prstGeom prst="rect">
            <a:avLst/>
          </a:prstGeom>
          <a:solidFill>
            <a:srgbClr val="F2B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1732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Hero 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47088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F0F0F0"/>
                </a:solidFill>
                <a:latin typeface="Microsoft JhengHei"/>
                <a:ea typeface="Microsoft JhengHei"/>
              </a:rPr>
              <a:t>B07CYZH2XC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品類：Beard / Mustache Trimmers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定位：Precision &amp; Durability Grooming Tool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STP 評估：距理想點 3.43，為日本自家旗艦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F2B233"/>
                </a:solidFill>
                <a:latin typeface="Microsoft JhengHei"/>
                <a:ea typeface="Microsoft JhengHei"/>
              </a:rPr>
              <a:t>市場頂尖：B0GBWZBMS5（Nose/Ear 競品）★4.61 / 距理想 1.97 — 尚未站穩戰場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417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推薦主訴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47088"/>
            <a:ext cx="3657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アタッチメント X 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E8503A"/>
                </a:solidFill>
                <a:latin typeface="Microsoft JhengHei"/>
                <a:ea typeface="Microsoft JhengHei"/>
              </a:rPr>
              <a:t>長さ調整 X 段階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0.5mm / 1mm 刻度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稼働時間 XX 分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E8503A"/>
                </a:solidFill>
                <a:latin typeface="Microsoft JhengHei"/>
                <a:ea typeface="Microsoft JhengHei"/>
              </a:rPr>
              <a:t>IPX7 防水 / 騒音 XX dB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正規品 + 1 年保証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41732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2B233"/>
                </a:solidFill>
                <a:latin typeface="Microsoft JhengHei"/>
                <a:ea typeface="Microsoft JhengHei"/>
              </a:rPr>
              <a:t>通路與信任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47088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樂天市場直営資格是台灣廠商稀缺資源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可與 Amazon JP、跨境官網形成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>
                <a:solidFill>
                  <a:srgbClr val="F0F0F0"/>
                </a:solidFill>
                <a:latin typeface="Microsoft JhengHei"/>
                <a:ea typeface="Microsoft JhengHei"/>
              </a:rPr>
              <a:t>「正規品、保固、日文服務」三層信任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4069080"/>
          <a:ext cx="11430000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5989320"/>
                <a:gridCol w="36576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Listing 區塊</a:t>
                      </a:r>
                    </a:p>
                  </a:txBody>
                  <a:tcPr marL="109728" marR="73152" marT="36576" marB="36576" anchor="ctr">
                    <a:solidFill>
                      <a:srgbClr val="186E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建議內容</a:t>
                      </a:r>
                    </a:p>
                  </a:txBody>
                  <a:tcPr marL="109728" marR="73152" marT="36576" marB="36576" anchor="ctr">
                    <a:solidFill>
                      <a:srgbClr val="186E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對應資料訊號</a:t>
                      </a:r>
                    </a:p>
                  </a:txBody>
                  <a:tcPr marL="109728" marR="73152" marT="36576" marB="36576" anchor="ctr">
                    <a:solidFill>
                      <a:srgbClr val="186E6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主圖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以規格表、附件數、段數、刻度、續航、防水等數字為第一層視覺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total_attachments_count F=2630；adjustable_comb_settings F=1827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Bullet 1–2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アタッチメント X 個／長さ調整 X 段階／0.5mm 単位／稼働時間 XX 分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STP Strategy Recommendations 7.2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信任證明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URBANER 直営正規品、1 年保証、のし対応、専門家監修或サロン推奨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BMC/SWOT：樂天直営資格、JP 策略卡</a:t>
                      </a:r>
                    </a:p>
                  </a:txBody>
                  <a:tcPr marL="109728" marR="73152" marT="36576" marB="36576" anchor="ctr">
                    <a:solidFill>
                      <a:srgbClr val="3FA9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產品線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雙電源並行：保留乾電池款守住 Segment 1，同時推出 USB-C 高規格款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F0F0"/>
                          </a:solidFill>
                          <a:latin typeface="Microsoft JhengHei"/>
                          <a:ea typeface="Microsoft JhengHei"/>
                        </a:rPr>
                        <a:t>Segment 1 核心屬性為 power_source_type</a:t>
                      </a:r>
                    </a:p>
                  </a:txBody>
                  <a:tcPr marL="109728" marR="73152" marT="36576" marB="36576" anchor="ctr">
                    <a:solidFill>
                      <a:srgbClr val="389A9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33272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2B233"/>
                </a:solidFill>
                <a:latin typeface="Microsoft JhengHei"/>
                <a:ea typeface="Microsoft JhengHei"/>
              </a:rPr>
              <a:t>Positioning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