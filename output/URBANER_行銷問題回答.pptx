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每日雙市場區隔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36F"/>
                </a:solidFill>
                <a:latin typeface="微軟正黑體"/>
              </a:rPr>
              <a:t>K-Means + PCA 分群分析 | 評論數：US 4,360 則 / JP 7,163 則 | Silhouette US=0.358 / JP=0.570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50392"/>
            <a:ext cx="12188952" cy="22860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0" y="137160"/>
            <a:ext cx="2286000" cy="320040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645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微軟正黑體"/>
              </a:rPr>
              <a:t>方法：K-Means (k=3) + PCA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960120"/>
            <a:ext cx="5486400" cy="38404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14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</a:rPr>
              <a:t>🇺🇸  美國市場（US）— 3 個消費者群體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5486400" cy="384048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014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</a:rPr>
              <a:t>🇯🇵  日本市場（JP）— 3 個消費者群體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417320"/>
            <a:ext cx="5486400" cy="12344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1417320"/>
            <a:ext cx="64008" cy="12344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481328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BFF"/>
                </a:solidFill>
                <a:latin typeface="微軟正黑體"/>
              </a:rPr>
              <a:t>S1｜禮品購買族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691640"/>
            <a:ext cx="5285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19.5%  ·  n=850  ·  ★3.68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89280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核心需求：送禮適合度 × 多功能套組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1226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代表場景：父親節 / 聖誕節採購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3172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主要類別：Beard / Mustache 87.5%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743200"/>
            <a:ext cx="5486400" cy="1234440"/>
          </a:xfrm>
          <a:prstGeom prst="rect">
            <a:avLst/>
          </a:prstGeom>
          <a:solidFill>
            <a:srgbClr val="FF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743200"/>
            <a:ext cx="64008" cy="12344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807208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BFF"/>
                </a:solidFill>
                <a:latin typeface="微軟正黑體"/>
              </a:rPr>
              <a:t>S2｜大眾主流族（痛點群）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017520"/>
            <a:ext cx="5285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76.5%  ·  n=3,337  ·  ★3.18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1868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核心需求：鼻耳毛功能 + 產品耐久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3814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痛點：滿意度最低，是首要改善對象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576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主要類別：Beard 94.8%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4069080"/>
            <a:ext cx="5486400" cy="12344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4069080"/>
            <a:ext cx="64008" cy="12344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133088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BFF"/>
                </a:solidFill>
                <a:latin typeface="微軟正黑體"/>
              </a:rPr>
              <a:t>S3｜充電式優先族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343400"/>
            <a:ext cx="5285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4.0%  ·  n=173  ·  ★4.48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4456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核心需求：充電式電源 × 高端體驗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6402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滿意度最高，是擴展利基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8348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代表 SKU：B0FL267TCG（Hero SKU）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417320"/>
            <a:ext cx="5486400" cy="1234440"/>
          </a:xfrm>
          <a:prstGeom prst="rect">
            <a:avLst/>
          </a:prstGeom>
          <a:solidFill>
            <a:srgbClr val="FF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1417320"/>
            <a:ext cx="64008" cy="1234440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6" y="1481328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4D"/>
                </a:solidFill>
                <a:latin typeface="微軟正黑體"/>
              </a:rPr>
              <a:t>S1｜實用主流族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1691640"/>
            <a:ext cx="5285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91.6%  ·  n=6,559  ·  ★3.46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189280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核心需求：電源類型＋鼻耳毛＋CP值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211226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決策重點：充電式 vs 乾電池 是核心分歧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233172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主要類別：Nose/Ear 59.4%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743200"/>
            <a:ext cx="5486400" cy="12344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2743200"/>
            <a:ext cx="64008" cy="1234440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2807208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4D"/>
                </a:solidFill>
                <a:latin typeface="微軟正黑體"/>
              </a:rPr>
              <a:t>S2｜精準修剪族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3017520"/>
            <a:ext cx="5285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7.8%  ·  n=561  ·  ★4.01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321868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核心需求：長度調整精度 × 附件齊全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343814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滿意度高，是優先攻略的利基客群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4808" y="36576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代表 SKU：B0GBWZBMS5（Hero SKU）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069080"/>
            <a:ext cx="5486400" cy="12344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069080"/>
            <a:ext cx="64008" cy="1234440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91656" y="4133088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4D"/>
                </a:solidFill>
                <a:latin typeface="微軟正黑體"/>
              </a:rPr>
              <a:t>S3｜低震感需求族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1656" y="4343400"/>
            <a:ext cx="5285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0.6%  ·  n=43  ·  ★3.05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54456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核心需求：低震動 × 低噪音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476402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族群極小、優先度最低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4808" y="498348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主要類別：Nose/Ear 62.8%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635508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6F"/>
                </a:solidFill>
                <a:latin typeface="微軟正黑體"/>
              </a:rPr>
              <a:t>關鍵發現：US 最大群體痛點集中在「功能持久度」；JP 市場分群最清晰（silhouette 0.570），電源偏好是最大決策分歧——兩市場不可用同一行銷策略。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鎖定目標客群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36F"/>
                </a:solidFill>
                <a:latin typeface="微軟正黑體"/>
              </a:rPr>
              <a:t>ANOVA 優先排序 × 消費者輪廓 × Hero SKU 對應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50392"/>
            <a:ext cx="12188952" cy="22860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5486400" cy="34747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0149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</a:rPr>
              <a:t>🇺🇸 美國目標客群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80744"/>
            <a:ext cx="54864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417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Priority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655064"/>
            <a:ext cx="548640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</a:rPr>
              <a:t>S3 — 充電式優先族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002536"/>
            <a:ext cx="5486400" cy="9509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3911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佔比：4.0% ｜ 滿意度最高 ★4.48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25856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特徵：注重電源品質、追求高端體驗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7802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行動：Hero SKU B0FL267TCG 主打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9748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場景：日常自用 × 高端男士美容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953512"/>
            <a:ext cx="5486400" cy="274320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990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Secondary 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227832"/>
            <a:ext cx="548640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32644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</a:rPr>
              <a:t>S1 — 禮品購買族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575304"/>
            <a:ext cx="5486400" cy="9509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1188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佔比：19.5% ｜ 平均 ★3.68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83133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特徵：父親節/聖誕節送禮採購者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5079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行動：Gift Ready 包裝 + 節慶廣告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7024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場景：Q2（父親節）× Q4（聖誕）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526280"/>
            <a:ext cx="5486400" cy="274320"/>
          </a:xfrm>
          <a:prstGeom prst="rect">
            <a:avLst/>
          </a:prstGeom>
          <a:solidFill>
            <a:srgbClr val="5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45628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Deprioritized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800600"/>
            <a:ext cx="548640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48371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</a:rPr>
              <a:t>S2 — 大眾主流族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148072"/>
            <a:ext cx="5486400" cy="9509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18464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佔比：76.5% ｜ 滿意度偏低 ★3.18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40410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策略：先解決痛點（功能耐久）再擴量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6235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行動：Listing 優化、Review 管理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960120"/>
            <a:ext cx="5486400" cy="34747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10149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</a:rPr>
              <a:t>🇯🇵 日本目標客群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380744"/>
            <a:ext cx="54864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14173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Priority 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1655064"/>
            <a:ext cx="548640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</a:rPr>
              <a:t>S2 — 精準修剪族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002536"/>
            <a:ext cx="5486400" cy="9509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03911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佔比：7.8% ｜ 滿意度最高 ★4.01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25856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特徵：要求 0.5mm 精度、附件齊全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47802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行動：Hero SKU B0GBWZBMS5 主打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69748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場景：楽天直営店 × 精品修剪話題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2953512"/>
            <a:ext cx="5486400" cy="274320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2990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Secondary Target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227832"/>
            <a:ext cx="548640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3368" y="32644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</a:rPr>
              <a:t>S1 — 實用主流族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575304"/>
            <a:ext cx="5486400" cy="9509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61188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佔比：91.6% ｜ 平均 ★3.46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3831336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特徵：CP 值敏感、電源類型為關鍵決策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05079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行動：楽天マラソン × 積分倍數攻勢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27024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場景：日常自用 × 節慶促銷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4526280"/>
            <a:ext cx="5486400" cy="274320"/>
          </a:xfrm>
          <a:prstGeom prst="rect">
            <a:avLst/>
          </a:prstGeom>
          <a:solidFill>
            <a:srgbClr val="5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73368" y="456285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Deprioritized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800600"/>
            <a:ext cx="548640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48371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</a:rPr>
              <a:t>S3 — 低震感族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5148072"/>
            <a:ext cx="5486400" cy="95097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5184648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佔比：0.6% ｜ 滿意度偏低 ★3.05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404104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策略：族群過小，暫不主動開拓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623560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• 行動：自然流量維持即可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635508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6F"/>
                </a:solidFill>
                <a:latin typeface="微軟正黑體"/>
              </a:rPr>
              <a:t>策略核心：US 以禮品送禮族為成長引擎，JP 以精準修剪族為利基突破口——資源 80% 集中 Hero SKU，20% 維持其他品項。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競品定位分析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36F"/>
                </a:solidFill>
                <a:latin typeface="微軟正黑體"/>
              </a:rPr>
              <a:t>MNL 偏好份額模型 | Axis B 品質矩陣 | 88 SKU × 114 屬性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50392"/>
            <a:ext cx="12188952" cy="22860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11704320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36F"/>
                </a:solidFill>
                <a:latin typeface="微軟正黑體"/>
              </a:rPr>
              <a:t>5.21%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27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  <a:latin typeface="微軟正黑體"/>
              </a:rPr>
              <a:t>URBANER 美國偏好份額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B6B"/>
                </a:solidFill>
                <a:latin typeface="微軟正黑體"/>
              </a:rPr>
              <a:t>94.67%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27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  <a:latin typeface="微軟正黑體"/>
              </a:rPr>
              <a:t>競品合計份額（US）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C9F0"/>
                </a:solidFill>
                <a:latin typeface="微軟正黑體"/>
              </a:rPr>
              <a:t>1.601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27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  <a:latin typeface="微軟正黑體"/>
              </a:rPr>
              <a:t>US Hero B0FL267TCG 理想點距離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C9F0"/>
                </a:solidFill>
                <a:latin typeface="微軟正黑體"/>
              </a:rPr>
              <a:t>1.970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527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  <a:latin typeface="微軟正黑體"/>
              </a:rPr>
              <a:t>JP Hero B0GBWZBMS5 理想點距離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2128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微軟正黑體"/>
              </a:rPr>
              <a:t>URBANER vs 競品 — 關鍵屬性定位對比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578608"/>
            <a:ext cx="182880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屬性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75688" y="2578608"/>
            <a:ext cx="173736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0552" y="2633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URBANER 現況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578608"/>
            <a:ext cx="173736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344" y="2633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競品平均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96128" y="2578608"/>
            <a:ext cx="1645920" cy="347472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2633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機會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898648"/>
            <a:ext cx="182880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" y="295351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IPX7+ 防水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75688" y="2898648"/>
            <a:ext cx="173736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30552" y="295351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✅ 已達標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2898648"/>
            <a:ext cx="173736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95344" y="295351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部分競品未達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96128" y="2898648"/>
            <a:ext cx="164592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0992" y="295351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強化 Badge 曝光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218688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" y="327355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7 件以上附件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3218688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0552" y="327355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✅ 主流規格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3218688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95344" y="327355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多數僅 3–5 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96128" y="3218688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50992" y="327355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件數視覺化攻勢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538728"/>
            <a:ext cx="182880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" y="359359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USB-C 充電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75688" y="3538728"/>
            <a:ext cx="173736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30552" y="359359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✅ 配備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3538728"/>
            <a:ext cx="173736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95344" y="359359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部分仍用舊接頭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96128" y="3538728"/>
            <a:ext cx="164592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50992" y="359359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技術領先強調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858768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" y="391363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0.5mm 精度（JP）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75688" y="3858768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30552" y="391363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✅ B0GBWZBMS5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3858768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95344" y="391363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競品少見此規格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96128" y="3858768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50992" y="391363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JP 差異化核心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178808"/>
            <a:ext cx="182880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" y="4233672"/>
            <a:ext cx="1737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禮盒包裝（US）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75688" y="4178808"/>
            <a:ext cx="173736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30552" y="423367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✅ B0FL267TCG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4178808"/>
            <a:ext cx="173736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95344" y="423367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多數競品無禮盒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96128" y="4178808"/>
            <a:ext cx="1645920" cy="320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50992" y="4233672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父親節主攻點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79" y="22128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微軟正黑體"/>
              </a:rPr>
              <a:t>US 競品理想點距離 Top 5（參考定位）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79" y="2578608"/>
            <a:ext cx="54864" cy="56692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571231" y="2578608"/>
            <a:ext cx="4389120" cy="566928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35240" y="263347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5BFF"/>
                </a:solidFill>
                <a:latin typeface="微軟正黑體"/>
              </a:rPr>
              <a:t>URBANER｜B0823PD6XD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285292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偏好份額 3.88% ｜ ★4.40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79" y="3218688"/>
            <a:ext cx="54864" cy="566928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71231" y="3218688"/>
            <a:ext cx="4389120" cy="56692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35240" y="32735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32F4D"/>
                </a:solidFill>
                <a:latin typeface="微軟正黑體"/>
              </a:rPr>
              <a:t>競品 #1｜B0FCYBJK6T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349300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偏好份額 3.88% ｜ ★3.37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79" y="3858768"/>
            <a:ext cx="54864" cy="566928"/>
          </a:xfrm>
          <a:prstGeom prst="rect">
            <a:avLst/>
          </a:prstGeom>
          <a:solidFill>
            <a:srgbClr val="5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71231" y="3858768"/>
            <a:ext cx="4389120" cy="56692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35240" y="391363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A"/>
                </a:solidFill>
                <a:latin typeface="微軟正黑體"/>
              </a:rPr>
              <a:t>競品 #2｜B0D97YBP2X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413308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偏好份額 3.88% ｜ ★3.91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98079" y="4498848"/>
            <a:ext cx="54864" cy="566928"/>
          </a:xfrm>
          <a:prstGeom prst="rect">
            <a:avLst/>
          </a:prstGeom>
          <a:solidFill>
            <a:srgbClr val="5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71231" y="4498848"/>
            <a:ext cx="4389120" cy="56692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35240" y="45537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A"/>
                </a:solidFill>
                <a:latin typeface="微軟正黑體"/>
              </a:rPr>
              <a:t>競品 #3｜B0BPXVV4T7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477316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偏好份額 3.88% ｜ ★4.88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98079" y="5138928"/>
            <a:ext cx="54864" cy="566928"/>
          </a:xfrm>
          <a:prstGeom prst="rect">
            <a:avLst/>
          </a:prstGeom>
          <a:solidFill>
            <a:srgbClr val="5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71231" y="5138928"/>
            <a:ext cx="4389120" cy="56692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35240" y="519379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8A"/>
                </a:solidFill>
                <a:latin typeface="微軟正黑體"/>
              </a:rPr>
              <a:t>競品 #4｜B07NW44F6Q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541324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8A"/>
                </a:solidFill>
                <a:latin typeface="微軟正黑體"/>
              </a:rPr>
              <a:t>偏好份額 3.88% ｜ ★4.88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98079" y="5779008"/>
            <a:ext cx="4480560" cy="50292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71231" y="58338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URBANER 在 MNL 選擇集排名第 1！
偏好份額與強力競品並駕齊驅（3.88%）。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8600" y="635508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6F"/>
                </a:solidFill>
                <a:latin typeface="微軟正黑體"/>
              </a:rPr>
              <a:t>機會缺口：競品普遍缺乏「IPX7 + 7件附件 + USB-C + 禮盒包裝」的完整組合——URBANER 的差異化利基明確。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772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消費者偏好分析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A36F"/>
                </a:solidFill>
                <a:latin typeface="微軟正黑體"/>
              </a:rPr>
              <a:t>Revealed-Preference Logistic Conjoint | ANOVA 屬性重要度 | 願付溢價（WTP）量化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50392"/>
            <a:ext cx="12188952" cy="22860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5486400" cy="32918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0149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</a:rPr>
              <a:t>🇺🇸 美國 — 屬性重要度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399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功能合一數（多合一）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426464"/>
            <a:ext cx="2926080" cy="256032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426464"/>
            <a:ext cx="2739874" cy="25603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4746" y="143560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51.5%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1901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充電方式（USB-C）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929384"/>
            <a:ext cx="2926080" cy="256032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0" y="1929384"/>
            <a:ext cx="558615" cy="25603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3487" y="193852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10.5%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" y="24048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電源類型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432304"/>
            <a:ext cx="2926080" cy="256032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2432304"/>
            <a:ext cx="553295" cy="25603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8167" y="244144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10.4%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" y="2907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附件件數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935224"/>
            <a:ext cx="2926080" cy="256032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2935224"/>
            <a:ext cx="553295" cy="25603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8167" y="294436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10.4%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" y="34107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防水等級（IPX7+）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38144"/>
            <a:ext cx="2926080" cy="256032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3438144"/>
            <a:ext cx="430931" cy="25603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5803" y="344728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8.1%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" y="3913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價格 CP 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941064"/>
            <a:ext cx="2926080" cy="256032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3941064"/>
            <a:ext cx="244726" cy="25603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49598" y="395020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4.6%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" y="4416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長度調整段數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443984"/>
            <a:ext cx="2926080" cy="256032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0" y="4443984"/>
            <a:ext cx="143643" cy="25603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8515" y="445312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2.7%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" y="4919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機身尺寸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4946904"/>
            <a:ext cx="2926080" cy="256032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77440" y="4946904"/>
            <a:ext cx="90442" cy="25603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95314" y="495604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BFF"/>
                </a:solidFill>
                <a:latin typeface="微軟正黑體"/>
              </a:rPr>
              <a:t>1.7%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960120"/>
            <a:ext cx="5486400" cy="329184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10149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</a:rPr>
              <a:t>🇯🇵 日本 — 屬性重要度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1399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價格 CP 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1426464"/>
            <a:ext cx="2926080" cy="256032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0" y="1426464"/>
            <a:ext cx="899104" cy="25603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39016" y="143560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4D"/>
                </a:solidFill>
                <a:latin typeface="微軟正黑體"/>
              </a:rPr>
              <a:t>16.9%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2" y="1901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附件件數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1929384"/>
            <a:ext cx="2926080" cy="256032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12480" y="1929384"/>
            <a:ext cx="851223" cy="25603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1135" y="193852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4D"/>
                </a:solidFill>
                <a:latin typeface="微軟正黑體"/>
              </a:rPr>
              <a:t>16.0%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24048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長度調整段數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2432304"/>
            <a:ext cx="2926080" cy="256032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0" y="2432304"/>
            <a:ext cx="824622" cy="25603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64534" y="244144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4D"/>
                </a:solidFill>
                <a:latin typeface="微軟正黑體"/>
              </a:rPr>
              <a:t>15.5%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2907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調整精度（mm）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2935224"/>
            <a:ext cx="2926080" cy="256032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12480" y="2935224"/>
            <a:ext cx="792701" cy="25603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32613" y="294436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4D"/>
                </a:solidFill>
                <a:latin typeface="微軟正黑體"/>
              </a:rPr>
              <a:t>14.9%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36792" y="34107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電源類型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3438144"/>
            <a:ext cx="2926080" cy="256032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12480" y="3438144"/>
            <a:ext cx="792701" cy="25603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32613" y="344728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4D"/>
                </a:solidFill>
                <a:latin typeface="微軟正黑體"/>
              </a:rPr>
              <a:t>14.9%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36792" y="3913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防水等級（IPX7+）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3941064"/>
            <a:ext cx="2926080" cy="256032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12480" y="3941064"/>
            <a:ext cx="452212" cy="25603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92124" y="395020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4D"/>
                </a:solidFill>
                <a:latin typeface="微軟正黑體"/>
              </a:rPr>
              <a:t>8.5%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36792" y="4416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電池續航時間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4443984"/>
            <a:ext cx="2926080" cy="256032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12480" y="4443984"/>
            <a:ext cx="430931" cy="25603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70843" y="445312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4D"/>
                </a:solidFill>
                <a:latin typeface="微軟正黑體"/>
              </a:rPr>
              <a:t>8.1%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36792" y="49194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3A3A"/>
                </a:solidFill>
                <a:latin typeface="微軟正黑體"/>
              </a:rPr>
              <a:t>機身尺寸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12480" y="4946904"/>
            <a:ext cx="2926080" cy="256032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412480" y="4946904"/>
            <a:ext cx="276647" cy="256032"/>
          </a:xfrm>
          <a:prstGeom prst="rect">
            <a:avLst/>
          </a:prstGeom>
          <a:solidFill>
            <a:srgbClr val="D3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16559" y="495604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2F4D"/>
                </a:solidFill>
                <a:latin typeface="微軟正黑體"/>
              </a:rPr>
              <a:t>5.2%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5102352"/>
            <a:ext cx="12188952" cy="292608"/>
          </a:xfrm>
          <a:prstGeom prst="rect">
            <a:avLst/>
          </a:prstGeom>
          <a:solidFill>
            <a:srgbClr val="C9A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514807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軟正黑體"/>
              </a:rPr>
              <a:t>消費者願付溢價（WTP）— Conjoint β 值量化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5422392"/>
            <a:ext cx="320040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3464" y="544982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屬性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0" y="5422392"/>
            <a:ext cx="173736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29584" y="544982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美國 WTP (USD)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0" y="5422392"/>
            <a:ext cx="173736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58384" y="544982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日本 WTP (JPY)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0" y="5422392"/>
            <a:ext cx="484632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87184" y="544982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微軟正黑體"/>
              </a:rPr>
              <a:t>策略意義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5715000"/>
            <a:ext cx="320040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3464" y="5742432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附件件數（7件以上）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0" y="5715000"/>
            <a:ext cx="173736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29584" y="574243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BFF"/>
                </a:solidFill>
                <a:latin typeface="微軟正黑體"/>
              </a:rPr>
              <a:t>$79.86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03520" y="5715000"/>
            <a:ext cx="173736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58384" y="5742432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32F4D"/>
                </a:solidFill>
                <a:latin typeface="微軟正黑體"/>
              </a:rPr>
              <a:t>¥6,800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32320" y="5715000"/>
            <a:ext cx="484632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87184" y="5742432"/>
            <a:ext cx="4773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兩市場共同高 WTP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5961888"/>
            <a:ext cx="32004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3464" y="5989320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長度調整精度（0.5mm）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74720" y="5961888"/>
            <a:ext cx="1737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529584" y="5989320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BFF"/>
                </a:solidFill>
                <a:latin typeface="微軟正黑體"/>
              </a:rPr>
              <a:t>$78.18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03520" y="5961888"/>
            <a:ext cx="1737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58384" y="5989320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32F4D"/>
                </a:solidFill>
                <a:latin typeface="微軟正黑體"/>
              </a:rPr>
              <a:t>¥7,961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32320" y="5961888"/>
            <a:ext cx="48463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87184" y="5989320"/>
            <a:ext cx="4773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JP 最高 WTP 屬性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6208776"/>
            <a:ext cx="320040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3464" y="6236208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機身緊湊尺寸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474720" y="6208776"/>
            <a:ext cx="173736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29584" y="6236208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BFF"/>
                </a:solidFill>
                <a:latin typeface="微軟正黑體"/>
              </a:rPr>
              <a:t>$89.81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303520" y="6208776"/>
            <a:ext cx="173736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58384" y="6236208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32F4D"/>
                </a:solidFill>
                <a:latin typeface="微軟正黑體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132320" y="6208776"/>
            <a:ext cx="484632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87184" y="6236208"/>
            <a:ext cx="4773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US 市場獨有高值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8600" y="6455664"/>
            <a:ext cx="32004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3464" y="6483096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IPX7 防水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474720" y="6455664"/>
            <a:ext cx="1737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529584" y="6483096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BFF"/>
                </a:solidFill>
                <a:latin typeface="微軟正黑體"/>
              </a:rPr>
              <a:t>顯著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03520" y="6455664"/>
            <a:ext cx="17373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58384" y="6483096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32F4D"/>
                </a:solidFill>
                <a:latin typeface="微軟正黑體"/>
              </a:rPr>
              <a:t>¥4,200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132320" y="6455664"/>
            <a:ext cx="484632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87184" y="6483096"/>
            <a:ext cx="4773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兩市場必要規格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28600" y="6702552"/>
            <a:ext cx="320040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83464" y="6729984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USB-C 充電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474720" y="6702552"/>
            <a:ext cx="173736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529584" y="6729984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BFF"/>
                </a:solidFill>
                <a:latin typeface="微軟正黑體"/>
              </a:rPr>
              <a:t>$65+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303520" y="6702552"/>
            <a:ext cx="173736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358384" y="6729984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32F4D"/>
                </a:solidFill>
                <a:latin typeface="微軟正黑體"/>
              </a:rPr>
              <a:t>¥3,500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132320" y="6702552"/>
            <a:ext cx="4846320" cy="2468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187184" y="6729984"/>
            <a:ext cx="4773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A3A3A"/>
                </a:solidFill>
                <a:latin typeface="微軟正黑體"/>
              </a:rPr>
              <a:t>US 第二強驅動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28600" y="635508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36F"/>
                </a:solidFill>
                <a:latin typeface="微軟正黑體"/>
              </a:rPr>
              <a:t>核心洞察：US 消費者為「功能合一數」付出最大溢價（重要度 51.5%）；JP 消費者則同等重視「CP值、附件數、精度」三軸——定價與規格決策需分市場差異化。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